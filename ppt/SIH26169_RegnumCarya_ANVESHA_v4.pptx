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1. The physics (left panel): "The screen is 12.5° × 12.5°. The default 4° × 3° camera sees</a:t>
            </a:r>
          </a:p>
          <a:p>
            <a:r>
              <a:t>   7.7 % of it. At 5 °/s the gimbal can slew at most 10° in two seconds, but a blind raster at</a:t>
            </a:r>
          </a:p>
          <a:p>
            <a:r>
              <a:t>   the base FOV needs roughly 40–50° of slew — about 8–10 s worst case. So ≤ 2 s from a random</a:t>
            </a:r>
          </a:p>
          <a:p>
            <a:r>
              <a:t>   start is not a tuning problem; it is a where-to-look problem."</a:t>
            </a:r>
          </a:p>
          <a:p>
            <a:r>
              <a:t>2. The loop (middle): "Camera → detect → estimate → belief and planner → control → gimbal.</a:t>
            </a:r>
          </a:p>
          <a:p>
            <a:r>
              <a:t>   The orange block is what is new: one probability map of where the beacon can be. Every frame</a:t>
            </a:r>
          </a:p>
          <a:p>
            <a:r>
              <a:t>   in which we do not see the beacon removes probability from the area we looked at. The planner</a:t>
            </a:r>
          </a:p>
          <a:p>
            <a:r>
              <a:t>   picks the next pointing and FOV (1×, 2× or 3× the base FOV) that gives the highest detection</a:t>
            </a:r>
          </a:p>
          <a:p>
            <a:r>
              <a:t>   probability per second, using the noise we actually measure in the image."</a:t>
            </a:r>
          </a:p>
          <a:p>
            <a:r>
              <a:t>3. Innovation (right): read the three titles only — belief-driven search, disturbance-aware FOV,</a:t>
            </a:r>
          </a:p>
          <a:p>
            <a:r>
              <a:t>   one belief across the whole search–track–loss–re-acquire lifecycle.</a:t>
            </a:r>
          </a:p>
          <a:p>
            <a:r>
              <a:t>4. Table: "Typical public approaches use a fixed spiral, a rule-switched wide FOV, or restart</a:t>
            </a:r>
          </a:p>
          <a:p>
            <a:r>
              <a:t>   the spiral after a loss. We replace each with a probabilistic decision."</a:t>
            </a:r>
          </a:p>
          <a:p>
            <a:r>
              <a:t>5. Point to the measured badge: "Measured on identical seeds, 77 % of our 48 runs acquire within</a:t>
            </a:r>
          </a:p>
          <a:p>
            <a:r>
              <a:t>   2 s versus 12–15 % for three spiral baselines. Slide 4 shows where we still fail."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"Top band: a 240 Hz physics simulation — beacon on seven trajectories, platform motion with an IMU,</a:t>
            </a:r>
          </a:p>
          <a:p>
            <a:r>
              <a:t>and every PS disturbance: Gaussian, Poisson and salt-and-pepper noise, jitter, haze, fog, rain, low</a:t>
            </a:r>
          </a:p>
          <a:p>
            <a:r>
              <a:t>light and turbulence. The virtual focal-plane-array camera is 640 × 480 at 30 Hz; the gimbal is rate</a:t>
            </a:r>
          </a:p>
          <a:p>
            <a:r>
              <a:t>limited to 5 °/s with lag and latency.</a:t>
            </a:r>
          </a:p>
          <a:p>
            <a:r>
              <a:t>The navy row is the tracking chain: perception with a matched filter and CFAR threshold plus a</a:t>
            </a:r>
          </a:p>
          <a:p>
            <a:r>
              <a:t>small CNN verifier; gated association; an IMM estimator whose measurement noise adapts to the</a:t>
            </a:r>
          </a:p>
          <a:p>
            <a:r>
              <a:t>jitter it measures; a supervisor state machine; and a 60 Hz predictive controller with IMU</a:t>
            </a:r>
          </a:p>
          <a:p>
            <a:r>
              <a:t>feed-forward.</a:t>
            </a:r>
          </a:p>
          <a:p>
            <a:r>
              <a:t>Orange is the belief search, connected to the supervisor in both directions. Amber is Benchmark-2:</a:t>
            </a:r>
          </a:p>
          <a:p>
            <a:r>
              <a:t>an evaluator's .mp4 bypasses the camera and enters the same perception and estimator. Green is</a:t>
            </a:r>
          </a:p>
          <a:p>
            <a:r>
              <a:t>the metrics layer — it is the only place that sees ground truth — and it writes the per-frame CSV,</a:t>
            </a:r>
          </a:p>
          <a:p>
            <a:r>
              <a:t>JSON summary and HTML report automatically. The screenshot is the live mission-control GUI."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"This slide is our evidence, including where we fail. Left: ANVESHA on 16 scenarios, three seeds</a:t>
            </a:r>
          </a:p>
          <a:p>
            <a:r>
              <a:t>each, against every PS limit — green meets it, red does not. It meets all PS checks in 9 of 16</a:t>
            </a:r>
          </a:p>
          <a:p>
            <a:r>
              <a:t>scenarios; the three baselines, run on the same seeds, meet all checks in none.</a:t>
            </a:r>
          </a:p>
          <a:p>
            <a:r>
              <a:t>Middle: 77 % of 48 runs acquire within 2 s versus 12–15 % for spiral baselines. [If shown: the</a:t>
            </a:r>
          </a:p>
          <a:p>
            <a:r>
              <a:t>ablation line says what each part buys.] Re-acquisition after two scripted occlusions averages</a:t>
            </a:r>
          </a:p>
          <a:p>
            <a:r>
              <a:t>0.07 s with nothing unrecovered. In Benchmark-2 video mode on a 2000 × 2000, 30 fps clip the</a:t>
            </a:r>
          </a:p>
          <a:p>
            <a:r>
              <a:t>raw centroid RMSE is 0.14 px at 29 FPS end-to-end including video decoding.</a:t>
            </a:r>
          </a:p>
          <a:p>
            <a:r>
              <a:t>Bottom: our measured gaps. In dense fog and rain we did not acquire at all; look-alike distractors</a:t>
            </a:r>
          </a:p>
          <a:p>
            <a:r>
              <a:t>and the all-maxima case cause false locks; LOS error exceeds 10 px under vibration, fast</a:t>
            </a:r>
          </a:p>
          <a:p>
            <a:r>
              <a:t>manoeuvres and occlusion. And one limit nobody can meet with a coarse gimbal: ±20 px white jitter</a:t>
            </a:r>
          </a:p>
          <a:p>
            <a:r>
              <a:t>alone is 16.3 px RMS, above the 10 px limit. We report LOS error and image error separately so</a:t>
            </a:r>
          </a:p>
          <a:p>
            <a:r>
              <a:t>the evaluator can see which part is correctable."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"Three audiences. ISRO and DoS PAT teams can design and regression-test coarse-PAT logic for mobile</a:t>
            </a:r>
          </a:p>
          <a:p>
            <a:r>
              <a:t>ground terminals, UAV or HAP relays and LEO downlinks before hardware exists. Students and</a:t>
            </a:r>
          </a:p>
          <a:p>
            <a:r>
              <a:t>researchers get an open, seeded testbed without an optics lab. Indian FSOC start-ups can move the</a:t>
            </a:r>
          </a:p>
          <a:p>
            <a:r>
              <a:t>same algorithms onto a real camera and pan-tilt, because the tracker only exchanges frames, encoder and IMU</a:t>
            </a:r>
          </a:p>
          <a:p>
            <a:r>
              <a:t>readings and rate commands with the world.</a:t>
            </a:r>
          </a:p>
          <a:p>
            <a:r>
              <a:t>The benefit the PS itself names is cost: expensive cameras, pan-tilt units and optical benches are</a:t>
            </a:r>
          </a:p>
          <a:p>
            <a:r>
              <a:t>needed only for final validation. Acquisition time matters in practice — an on-orbit optical link</a:t>
            </a:r>
          </a:p>
          <a:p>
            <a:r>
              <a:t>demonstration reported a 22-second acquisition. Our roadmap: today software-in-the-loop; next real</a:t>
            </a:r>
          </a:p>
          <a:p>
            <a:r>
              <a:t>footage through the video mode; then a hardware-in-the-loop rig; finally hand-off to a fine-steering</a:t>
            </a:r>
          </a:p>
          <a:p>
            <a:r>
              <a:t>stage that removes the residual jitter."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"We built a 134-paper database covering PAT surveys, scanning-based acquisition, beacon centroiding,</a:t>
            </a:r>
          </a:p>
          <a:p>
            <a:r>
              <a:t>IMM tracking and gimbal disturbance rejection, and read the READMEs of 20 public SIH26169</a:t>
            </a:r>
          </a:p>
          <a:p>
            <a:r>
              <a:t>repositories to see what is already common. Based on that review we did not identify a coarse-PAT</a:t>
            </a:r>
          </a:p>
          <a:p>
            <a:r>
              <a:t>system combining a recursively updated belief map, FOV selection from measured noise and</a:t>
            </a:r>
          </a:p>
          <a:p>
            <a:r>
              <a:t>belief-seeded re-acquisition. The twelve references here are the ones our design directly uses."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 are Regnum Carya. Our problem statement is SIH26169 from ISRO: a virtual camera tracking</a:t>
            </a:r>
          </a:p>
          <a:p>
            <a:r>
              <a:t>system for coarse alignment of mobile free-space optical terminals. Our solution is called</a:t>
            </a:r>
          </a:p>
          <a:p>
            <a:r>
              <a:t>ANVESHA — Sanskrit for search — because we found that the hard part of this problem is not</a:t>
            </a:r>
          </a:p>
          <a:p>
            <a:r>
              <a:t>detecting a bright spot, it is deciding where to look, how wide to look, and what not to chase."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82880" y="-526757"/>
            <a:ext cx="9509760" cy="2076450"/>
          </a:xfrm>
        </p:spPr>
        <p:txBody>
          <a:bodyPr/>
          <a:lstStyle/>
          <a:p>
            <a:r>
              <a:rPr lang="en-US" sz="3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8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ProjectName"/>
          <p:cNvSpPr txBox="1"/>
          <p:nvPr/>
        </p:nvSpPr>
        <p:spPr>
          <a:xfrm>
            <a:off x="411480" y="1783080"/>
            <a:ext cx="60350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 u="none">
                <a:solidFill>
                  <a:srgbClr val="1F497D"/>
                </a:solidFill>
                <a:latin typeface="Times New Roman"/>
              </a:rPr>
              <a:t>ANVESHA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2304288"/>
            <a:ext cx="612648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 u="none">
                <a:solidFill>
                  <a:srgbClr val="0070C0"/>
                </a:solidFill>
                <a:latin typeface="Arial"/>
              </a:rPr>
              <a:t>Finds a mobile FSOC beacon in 1.3 s (median, simulated) by deciding </a:t>
            </a:r>
            <a:r>
              <a:rPr sz="1500" b="1" i="0" u="none">
                <a:solidFill>
                  <a:srgbClr val="C55A11"/>
                </a:solidFill>
                <a:latin typeface="Arial"/>
              </a:rPr>
              <a:t>where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 and </a:t>
            </a:r>
            <a:r>
              <a:rPr sz="1500" b="1" i="0" u="none">
                <a:solidFill>
                  <a:srgbClr val="C55A11"/>
                </a:solidFill>
                <a:latin typeface="Arial"/>
              </a:rPr>
              <a:t>how wide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 to look — then tracks it</a:t>
            </a:r>
          </a:p>
        </p:txBody>
      </p:sp>
      <p:sp>
        <p:nvSpPr>
          <p:cNvPr id="40" name="Fields"/>
          <p:cNvSpPr txBox="1"/>
          <p:nvPr/>
        </p:nvSpPr>
        <p:spPr>
          <a:xfrm>
            <a:off x="411480" y="2999232"/>
            <a:ext cx="6126480" cy="2651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 u="none">
                <a:solidFill>
                  <a:srgbClr val="1A1A1A"/>
                </a:solidFill>
                <a:latin typeface="Arial"/>
              </a:rPr>
              <a:t>Problem Statement ID : </a:t>
            </a:r>
            <a:r>
              <a:rPr sz="1300" b="1" i="0" u="none">
                <a:solidFill>
                  <a:srgbClr val="0070C0"/>
                </a:solidFill>
                <a:latin typeface="Arial"/>
              </a:rPr>
              <a:t>SIH26169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 u="none">
                <a:solidFill>
                  <a:srgbClr val="1A1A1A"/>
                </a:solidFill>
                <a:latin typeface="Arial"/>
              </a:rPr>
              <a:t>Problem Statement Title : </a:t>
            </a:r>
            <a:r>
              <a:rPr sz="1300" b="1" i="0" u="none">
                <a:solidFill>
                  <a:srgbClr val="0070C0"/>
                </a:solidFill>
                <a:latin typeface="Arial"/>
              </a:rPr>
              <a:t>Development of an AI-Based Virtual Camera Tracking System for Coarse Alignment of Mobile Free Space Optical Communication (FSOC) Terminals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 u="none">
                <a:solidFill>
                  <a:srgbClr val="1A1A1A"/>
                </a:solidFill>
                <a:latin typeface="Arial"/>
              </a:rPr>
              <a:t>Theme : </a:t>
            </a:r>
            <a:r>
              <a:rPr sz="1300" b="1" i="0" u="none">
                <a:solidFill>
                  <a:srgbClr val="0070C0"/>
                </a:solidFill>
                <a:latin typeface="Arial"/>
              </a:rPr>
              <a:t>Smart Automation / Space Technology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 u="none">
                <a:solidFill>
                  <a:srgbClr val="1A1A1A"/>
                </a:solidFill>
                <a:latin typeface="Arial"/>
              </a:rPr>
              <a:t>PS Category : </a:t>
            </a:r>
            <a:r>
              <a:rPr sz="1300" b="1" i="0" u="none">
                <a:solidFill>
                  <a:srgbClr val="0070C0"/>
                </a:solidFill>
                <a:latin typeface="Arial"/>
              </a:rPr>
              <a:t>Software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 u="none">
                <a:solidFill>
                  <a:srgbClr val="1A1A1A"/>
                </a:solidFill>
                <a:latin typeface="Arial"/>
              </a:rPr>
              <a:t>Team ID : </a:t>
            </a:r>
            <a:r>
              <a:rPr sz="1300" b="1" i="0" u="none">
                <a:solidFill>
                  <a:srgbClr val="0070C0"/>
                </a:solidFill>
                <a:latin typeface="Arial"/>
              </a:rPr>
              <a:t>________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 u="none">
                <a:solidFill>
                  <a:srgbClr val="1A1A1A"/>
                </a:solidFill>
                <a:latin typeface="Arial"/>
              </a:rPr>
              <a:t>Team Name (Registered on portal) : </a:t>
            </a:r>
            <a:r>
              <a:rPr sz="1300" b="1" i="0" u="none">
                <a:solidFill>
                  <a:srgbClr val="0070C0"/>
                </a:solidFill>
                <a:latin typeface="Arial"/>
              </a:rPr>
              <a:t>Regnum Carya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349240"/>
            <a:ext cx="1938528" cy="786384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5367527"/>
            <a:ext cx="1792224" cy="76809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 u="none">
                <a:solidFill>
                  <a:srgbClr val="1F497D"/>
                </a:solidFill>
                <a:latin typeface="Arial"/>
              </a:rPr>
              <a:t>1.3 s</a:t>
            </a:r>
          </a:p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median acquisition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spiral baselines 6.4–9.2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59736" y="5349240"/>
            <a:ext cx="1938528" cy="786384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32888" y="5367527"/>
            <a:ext cx="1792224" cy="76809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 u="none">
                <a:solidFill>
                  <a:srgbClr val="1F497D"/>
                </a:solidFill>
                <a:latin typeface="Arial"/>
              </a:rPr>
              <a:t>87 %</a:t>
            </a:r>
          </a:p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of runs acquired ≤ 2 s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baselines 12–15 %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07992" y="5349240"/>
            <a:ext cx="1938528" cy="786384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1144" y="5367527"/>
            <a:ext cx="1792224" cy="76809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 u="none">
                <a:solidFill>
                  <a:srgbClr val="1F497D"/>
                </a:solidFill>
                <a:latin typeface="Arial"/>
              </a:rPr>
              <a:t>11/16</a:t>
            </a:r>
          </a:p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scenarios meet every PS limit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baselines 0/16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172200"/>
            <a:ext cx="612648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1" u="none">
                <a:solidFill>
                  <a:srgbClr val="555B66"/>
                </a:solidFill>
                <a:latin typeface="Arial"/>
              </a:rPr>
              <a:t>Measured in simulation (software-in-the-loop): 16 scenarios × 3 seeds, identical seeds for all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FFFFFF"/>
                </a:solidFill>
              </a:rPr>
              <a:t>@ Regnum Carya  ·  ANVESHA  ·  SIH26169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89611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6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371600"/>
            <a:ext cx="7818120" cy="41148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 u="none">
                <a:solidFill>
                  <a:srgbClr val="1F497D"/>
                </a:solidFill>
                <a:latin typeface="Arial"/>
              </a:rPr>
              <a:t>ANVESHA: 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a probability map of the beacon decides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where to point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 and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how wide to look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366760" y="1307592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Measured (SIL, 16 scenarios × 3 seeds):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87 % of runs acquired ≤ 2 s vs 12–15 % for spiral baselines (slide 4)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10512"/>
            <a:ext cx="361188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57200" y="1883664"/>
            <a:ext cx="2307945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02920" y="2267712"/>
            <a:ext cx="12344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527608" y="2440533"/>
            <a:ext cx="1185062" cy="888796"/>
          </a:xfrm>
          <a:prstGeom prst="rect">
            <a:avLst/>
          </a:prstGeom>
          <a:noFill/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922629" y="2736799"/>
            <a:ext cx="395020" cy="29626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57200" y="3520440"/>
            <a:ext cx="338328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555B66"/>
                </a:solidFill>
                <a:latin typeface="Arial"/>
              </a:rPr>
              <a:t>To scale: screen 12.5°×12.5° · </a:t>
            </a:r>
            <a:r>
              <a:rPr sz="900" b="0" i="0" u="none">
                <a:solidFill>
                  <a:srgbClr val="0070C0"/>
                </a:solidFill>
                <a:latin typeface="Arial"/>
              </a:rPr>
              <a:t>■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4°×3° base FOV · </a:t>
            </a:r>
            <a:r>
              <a:rPr sz="900" b="0" i="0" u="none">
                <a:solidFill>
                  <a:srgbClr val="C55A11"/>
                </a:solidFill>
                <a:latin typeface="Arial"/>
              </a:rPr>
              <a:t>▭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12°×9° wide FOV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1847088" y="2194560"/>
            <a:ext cx="2103120" cy="17373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4°×3° FOV = </a:t>
            </a:r>
            <a:r>
              <a:rPr sz="1000" b="1" i="0" u="none">
                <a:solidFill>
                  <a:srgbClr val="1A1A1A"/>
                </a:solidFill>
                <a:latin typeface="Arial"/>
              </a:rPr>
              <a:t>7.7 %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of the screen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5 °/s gimbal ⇒ ≤ 10° slew in 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Blind raster needs ≈ 40–50° of slew ⇒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~8–10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Measured spiral baselines A / B: median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7.8 / 9.2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PS asks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≤ 2 s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from a random start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57200" y="4096512"/>
            <a:ext cx="342900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Detecting a bright spot is easy. 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Knowing </a:t>
            </a:r>
            <a:r>
              <a:rPr sz="1150" b="1" i="0" u="none">
                <a:solidFill>
                  <a:srgbClr val="C55A11"/>
                </a:solidFill>
                <a:latin typeface="Arial"/>
              </a:rPr>
              <a:t>where to look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 is the real problem.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114800" y="1810512"/>
            <a:ext cx="411480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06240" y="1883664"/>
            <a:ext cx="3066897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Detailed explanation — the closed loop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25196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640×480 · 30 Hz
FOV 1× / 2× / 3×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57784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Detect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MF-CFAR +
CNN verifier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90372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Estimate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IMM · jitter-
aware noise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25196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Gimbal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rate-limited
5 °/s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557784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Control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predictive +
IMU feed-fwd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90372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C55A11"/>
                </a:solidFill>
                <a:latin typeface="Arial"/>
              </a:rPr>
              <a:t>Belief + planner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where &amp; how
wide to look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544068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 flipH="1">
            <a:off x="544068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676656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 flipH="1">
            <a:off x="676656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749808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 flipV="1">
            <a:off x="484632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TextBox 15386"/>
          <p:cNvSpPr txBox="1"/>
          <p:nvPr/>
        </p:nvSpPr>
        <p:spPr>
          <a:xfrm>
            <a:off x="4206240" y="2176272"/>
            <a:ext cx="3931920" cy="40233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B71C1C"/>
                </a:solidFill>
                <a:latin typeface="Arial"/>
              </a:rPr>
              <a:t>▼ disturbances in: noise · jitter · fog/haze/rain · platform motion</a:t>
            </a:r>
          </a:p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9A6700"/>
                </a:solidFill>
                <a:latin typeface="Arial"/>
              </a:rPr>
              <a:t>▼ or evaluator .mp4 video (Benchmark-2): PTZ bypassed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532120" y="3273552"/>
            <a:ext cx="128016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SEARCH → TRACK →</a:t>
            </a:r>
          </a:p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LOSS → RE-ACQUIRE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4206240" y="4352544"/>
            <a:ext cx="39319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2E7D32"/>
                </a:solidFill>
                <a:latin typeface="Arial"/>
              </a:rPr>
              <a:t>Out: per-frame truth-based metrics → CSV · JSON · HTML report (auto)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8366760" y="1810512"/>
            <a:ext cx="347472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8458200" y="1883664"/>
            <a:ext cx="2080260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92" name="Oval 15391"/>
          <p:cNvSpPr/>
          <p:nvPr/>
        </p:nvSpPr>
        <p:spPr>
          <a:xfrm>
            <a:off x="8458200" y="2258568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823960" y="2203704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Belief-driven search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every empty frame is evidence: probability is removed where the beacon was not seen; next look = best P(detect) per second</a:t>
            </a:r>
          </a:p>
        </p:txBody>
      </p:sp>
      <p:sp>
        <p:nvSpPr>
          <p:cNvPr id="15394" name="Oval 15393"/>
          <p:cNvSpPr/>
          <p:nvPr/>
        </p:nvSpPr>
        <p:spPr>
          <a:xfrm>
            <a:off x="8458200" y="3063240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823960" y="3008376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Disturbance-aware FOV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FOV (1×/2×/3×) chosen by predicted detection probability from the measured noise: go wide only when the beacon stays detectable</a:t>
            </a:r>
          </a:p>
        </p:txBody>
      </p:sp>
      <p:sp>
        <p:nvSpPr>
          <p:cNvPr id="15396" name="Oval 15395"/>
          <p:cNvSpPr/>
          <p:nvPr/>
        </p:nvSpPr>
        <p:spPr>
          <a:xfrm>
            <a:off x="8458200" y="3867912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823960" y="3813048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One belief, whole lifecycle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on loss the search restarts from the tracker's prediction; jitter-aware estimator stops the gimbal chasing jitter</a:t>
            </a:r>
          </a:p>
        </p:txBody>
      </p:sp>
      <p:graphicFrame>
        <p:nvGraphicFramePr>
          <p:cNvPr id="15398" name="Table 15397"/>
          <p:cNvGraphicFramePr>
            <a:graphicFrameLocks noGrp="1"/>
          </p:cNvGraphicFramePr>
          <p:nvPr/>
        </p:nvGraphicFramePr>
        <p:xfrm>
          <a:off x="365760" y="4754879"/>
          <a:ext cx="11475720" cy="1243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37560"/>
                <a:gridCol w="4069080"/>
                <a:gridCol w="40690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Typical public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Fixed spiral / raster at base FOV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Open loop; ignores empty frames; ~8–10 s worst case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Recursive Bayesian belief + next-best-look planner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Wide-FOV mode switched by a fixed rule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SNR loss of a wider FOV is not modelled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FOV picked from a measured-noise detection model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Re-acquire = restart spiral / Kalman coast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Throws away what the tracker knew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Belief re-seeded from IMM predicted mean &amp; covariance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</a:tbl>
          </a:graphicData>
        </a:graphic>
      </p:graphicFrame>
      <p:sp>
        <p:nvSpPr>
          <p:cNvPr id="15399" name="TextBox 15398"/>
          <p:cNvSpPr txBox="1"/>
          <p:nvPr/>
        </p:nvSpPr>
        <p:spPr>
          <a:xfrm>
            <a:off x="365760" y="6053328"/>
            <a:ext cx="114757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1" u="none">
                <a:solidFill>
                  <a:srgbClr val="555B66"/>
                </a:solidFill>
                <a:latin typeface="Arial"/>
              </a:rPr>
              <a:t>Based on our review of 134 papers and 20 public SIH26169 repositories, we did not identify a coarse-PAT system that combines these three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FFFFFF"/>
                </a:solidFill>
              </a:rPr>
              <a:t>@ Regnum Carya  ·  ANVESHA  ·  SIH26169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012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400" b="1" i="0" u="sng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44168"/>
            <a:ext cx="1188720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SYSTEM FLOW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600200" y="1325880"/>
            <a:ext cx="1005840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555B66"/>
                </a:solidFill>
                <a:latin typeface="Arial"/>
              </a:rPr>
              <a:t>INPUT  →  PERCEPTION  →  AI VERIFY  →  ESTIMATION  →  BELIEF SEARCH  →  CONTROL / OUTPUT     (every box below exists in the running prototype)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01  INPUT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Virtual FPA 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640×480 · 30 Hz · 4°×3°
zoom 1×/2×/3×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080260" y="2313432"/>
            <a:ext cx="237743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318003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02  PERCEPTION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MF-CFAR detector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noise-adaptive median
sub-pixel IW-CoG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4032503" y="2313432"/>
            <a:ext cx="237745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4270248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9A67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03  AI VERIFY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BeaconNet (ONNX)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6.8 k-param CNN
veto-only fusion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5984748" y="2313432"/>
            <a:ext cx="237744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6222492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04  ESTIMATION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IMM tracker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CV / CA / manoeuvre
jitter-aware noise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7936992" y="2313432"/>
            <a:ext cx="237744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8174736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 w="28575">
            <a:solidFill>
              <a:srgbClr val="7A33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05  BELIEF SEARCH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where + how wide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Bayes miss-update
Pd(FOV) planner · core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9889236" y="2313432"/>
            <a:ext cx="237744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10126980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B71C1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06  CONTROL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pan/tilt rate cmd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target + IMU feed-fwd
≤ 5 °/s · 60 Hz</a:t>
            </a:r>
          </a:p>
        </p:txBody>
      </p:sp>
      <p:cxnSp>
        <p:nvCxnSpPr>
          <p:cNvPr id="17424" name="Connector 17423"/>
          <p:cNvCxnSpPr/>
          <p:nvPr/>
        </p:nvCxnSpPr>
        <p:spPr>
          <a:xfrm flipV="1">
            <a:off x="10984230" y="1719072"/>
            <a:ext cx="0" cy="128016"/>
          </a:xfrm>
          <a:prstGeom prst="line">
            <a:avLst/>
          </a:prstGeom>
          <a:ln w="15875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 flipH="1">
            <a:off x="1223010" y="1719072"/>
            <a:ext cx="9761220" cy="0"/>
          </a:xfrm>
          <a:prstGeom prst="line">
            <a:avLst/>
          </a:prstGeom>
          <a:ln w="15875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1223010" y="1719072"/>
            <a:ext cx="0" cy="128016"/>
          </a:xfrm>
          <a:prstGeom prst="line">
            <a:avLst/>
          </a:prstGeom>
          <a:ln w="15875">
            <a:solidFill>
              <a:srgbClr val="B7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4453128" y="1700784"/>
            <a:ext cx="4572000" cy="18288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1" u="none">
                <a:solidFill>
                  <a:srgbClr val="B71C1C"/>
                </a:solidFill>
                <a:latin typeface="Arial"/>
              </a:rPr>
              <a:t>closed loop: gimbal re-points the camera → next frame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283464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SIDE BRANCHES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9A6700"/>
                </a:solidFill>
                <a:latin typeface="Arial"/>
              </a:rPr>
              <a:t>Disturbance engine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noise · jitter · haze/fog/rain
low light · turbulence</a:t>
            </a:r>
          </a:p>
        </p:txBody>
      </p:sp>
      <p:cxnSp>
        <p:nvCxnSpPr>
          <p:cNvPr id="17430" name="Connector 17429"/>
          <p:cNvCxnSpPr/>
          <p:nvPr/>
        </p:nvCxnSpPr>
        <p:spPr>
          <a:xfrm flipV="1">
            <a:off x="1223010" y="2779776"/>
            <a:ext cx="0" cy="347472"/>
          </a:xfrm>
          <a:prstGeom prst="line">
            <a:avLst/>
          </a:prstGeom>
          <a:ln w="15875">
            <a:solidFill>
              <a:srgbClr val="9A6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2318003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9A6700"/>
                </a:solidFill>
                <a:latin typeface="Arial"/>
              </a:rPr>
              <a:t>Evaluator .mp4 (B-2)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PTZ bypassed · raw centroid
logged per frame</a:t>
            </a:r>
          </a:p>
        </p:txBody>
      </p:sp>
      <p:cxnSp>
        <p:nvCxnSpPr>
          <p:cNvPr id="17432" name="Connector 17431"/>
          <p:cNvCxnSpPr/>
          <p:nvPr/>
        </p:nvCxnSpPr>
        <p:spPr>
          <a:xfrm flipV="1">
            <a:off x="3175253" y="2779776"/>
            <a:ext cx="0" cy="347472"/>
          </a:xfrm>
          <a:prstGeom prst="line">
            <a:avLst/>
          </a:prstGeom>
          <a:ln w="15875">
            <a:solidFill>
              <a:srgbClr val="9A6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6222492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E6F3E7"/>
          </a:solidFill>
          <a:ln w="12700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2E7D32"/>
                </a:solidFill>
                <a:latin typeface="Arial"/>
              </a:rPr>
              <a:t>Platform IMU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gyro rate → estimator
&amp; controller feed-forward</a:t>
            </a:r>
          </a:p>
        </p:txBody>
      </p:sp>
      <p:cxnSp>
        <p:nvCxnSpPr>
          <p:cNvPr id="17434" name="Connector 17433"/>
          <p:cNvCxnSpPr/>
          <p:nvPr/>
        </p:nvCxnSpPr>
        <p:spPr>
          <a:xfrm flipV="1">
            <a:off x="7079742" y="2779776"/>
            <a:ext cx="0" cy="347472"/>
          </a:xfrm>
          <a:prstGeom prst="line">
            <a:avLst/>
          </a:prstGeom>
          <a:ln w="15875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8174736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12700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0070C0"/>
                </a:solidFill>
                <a:latin typeface="Arial"/>
              </a:rPr>
              <a:t>Mission-control GUI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WebSocket · 2D/3D world
belief map · telemetry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9031986" y="2779776"/>
            <a:ext cx="0" cy="347472"/>
          </a:xfrm>
          <a:prstGeom prst="line">
            <a:avLst/>
          </a:prstGeom>
          <a:ln w="15875">
            <a:solidFill>
              <a:srgbClr val="0070C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10126980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E6F3E7"/>
          </a:solidFill>
          <a:ln w="12700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2E7D32"/>
                </a:solidFill>
                <a:latin typeface="Arial"/>
              </a:rPr>
              <a:t>Metrics + auto report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truth-only · CSV · JSON
HTML/PDF each run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10984230" y="2779776"/>
            <a:ext cx="0" cy="347472"/>
          </a:xfrm>
          <a:prstGeom prst="line">
            <a:avLst/>
          </a:prstGeom>
          <a:ln w="15875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365760" y="3703320"/>
            <a:ext cx="39319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How it runs — 5 steps per frame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65760" y="401421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22960" y="3986784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Simulate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240 Hz physics; scenario YAML + seed → bit-reproducible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65760" y="444398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22960" y="4416552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Detect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MF-CFAR on robust noise estimate; CNN can only veto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65760" y="487375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822960" y="4846320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Track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IMM in gimbal frame; jitter separated from motion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65760" y="53035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22960" y="5276088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Decide where to look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joint position × detectability belief → look + FOV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65760" y="57332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22960" y="5705855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Steer &amp; log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rate-limited control; truth-based metrics &amp; report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572000" y="3703320"/>
            <a:ext cx="34747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Working prototype — live mission-control GUI</a:t>
            </a:r>
          </a:p>
        </p:txBody>
      </p:sp>
      <p:pic>
        <p:nvPicPr>
          <p:cNvPr id="17451" name="Picture 17450" descr="gui_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14216"/>
            <a:ext cx="3474720" cy="2241194"/>
          </a:xfrm>
          <a:prstGeom prst="rect">
            <a:avLst/>
          </a:prstGeom>
          <a:ln w="9525">
            <a:solidFill>
              <a:srgbClr val="B8C4D3"/>
            </a:solidFill>
          </a:ln>
        </p:spPr>
      </p:pic>
      <p:sp>
        <p:nvSpPr>
          <p:cNvPr id="17452" name="TextBox 17451"/>
          <p:cNvSpPr txBox="1"/>
          <p:nvPr/>
        </p:nvSpPr>
        <p:spPr>
          <a:xfrm>
            <a:off x="8458200" y="36850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250" b="1" i="0" u="sng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458200" y="4014216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Python 3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0204704" y="4014216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NumPy · SciPy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458200" y="4361688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OpenCV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10204704" y="4361688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ONNX Runtime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458200" y="4709160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PyTorch (train)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10204704" y="4709160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FastAPI + WebSocket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458200" y="5056632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HTML/JS · three.js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10204704" y="5056632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PyInstaller (.exe spec)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458200" y="5422392"/>
            <a:ext cx="3383280" cy="109728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Why: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vectorised CPU pipeline hits ≥ 51 FPS on a laptop, no GPU needed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One engine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feeds GUI, benchmarks and reports — no separate demo path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Offline &amp; portable: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browser GUI, no build step; Windows .exe spec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 Regnum Carya  ·  ANVESHA  ·  SIH26169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298448"/>
            <a:ext cx="83210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1" u="none">
                <a:solidFill>
                  <a:srgbClr val="555B66"/>
                </a:solidFill>
                <a:latin typeface="Arial"/>
              </a:rPr>
              <a:t>Measured in simulation (software-in-the-loop), 3 seeds · 16 scenarios · same seeds for all pipelines · baseline PID gains grid-tuned · laptop CPU only (no GPU used)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65760" y="1554480"/>
          <a:ext cx="544068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72768"/>
                <a:gridCol w="804672"/>
                <a:gridCol w="566928"/>
                <a:gridCol w="658368"/>
                <a:gridCol w="548640"/>
                <a:gridCol w="667512"/>
                <a:gridCol w="621792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· scenario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Acq. ≤2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Image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Loss*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Re-acq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Loop FPS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A  Clean sky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B  Gaussian σ=20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  Poisson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D  Salt &amp; pepper 10 %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E  Jitter ±10 px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8.9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  Platform linear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F2 Vibration 7/13 Hz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G  Fog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H  Haze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I  Low light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J  Fast manoeuvre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K  Occlusion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0.10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L  Rain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M  Combined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N  All PS maxima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0/3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99 %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n/a (1✗)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O  Look-alike distractors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1/3 · 2.9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65760" y="4754880"/>
            <a:ext cx="544068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All PS checks met: </a:t>
            </a:r>
            <a:r>
              <a:rPr sz="950" b="1" i="0" u="none">
                <a:solidFill>
                  <a:srgbClr val="0070C0"/>
                </a:solidFill>
                <a:latin typeface="Arial"/>
              </a:rPr>
              <a:t>ANVESHA 11/16 scenarios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  ·  baselines A/B/C 0/0/0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555B66"/>
                </a:solidFill>
                <a:latin typeface="Arial"/>
              </a:rPr>
              <a:t>Limits: acq ≤ 2 s · error ≤ 10 px · loss &lt; 5 % · re-acq ≤ 1 s · ≥ 20 FPS. *excl. scripted occlusion · LOS = excl. camera jitter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989320" y="1536192"/>
            <a:ext cx="260604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Same seeds, all pipelines</a:t>
            </a:r>
          </a:p>
        </p:txBody>
      </p:sp>
      <p:pic>
        <p:nvPicPr>
          <p:cNvPr id="17415" name="Picture 17414" descr="acq_le2s_by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01368"/>
            <a:ext cx="2606040" cy="1459382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5989320" y="3401568"/>
            <a:ext cx="2606040" cy="89611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044183" y="3410712"/>
            <a:ext cx="2514600" cy="8869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Ablation — remove one part (10 scenarios × 3 seeds):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belief → spiral search: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runs ≤ 2 s 83 % → 7 %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adaptive FOV off: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runs ≤ 2 s 83 % → 20 %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jitter-aware R off (E):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LOS 4.6 → 19.3 px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IMU feed-fwd off (F):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LOS 4.4 → 5.8 px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CNN verifier off: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false-lock frames 614 → 667 (sum)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89320" y="5422392"/>
            <a:ext cx="260604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Median acquisition when acquired: </a:t>
            </a:r>
            <a:r>
              <a:rPr sz="850" b="1" i="0" u="none">
                <a:solidFill>
                  <a:srgbClr val="0070C0"/>
                </a:solidFill>
                <a:latin typeface="Arial"/>
              </a:rPr>
              <a:t>ANVESHA 1.3 s</a:t>
            </a:r>
            <a:r>
              <a:rPr sz="850" b="0" i="0" u="none">
                <a:solidFill>
                  <a:srgbClr val="555B66"/>
                </a:solidFill>
                <a:latin typeface="Arial"/>
              </a:rPr>
              <a:t> · baselines 6.4–9.2 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89320" y="4370832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Re-acquisition (K, 2 occlusions):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mean 0.10 s, max 0.27 s, 0 of 6 unrecovered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89320" y="4882896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Benchmark-2 video rehearsal: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centroid RMSE 0.13 px over 300 frames of 2000×2000 @30 fps; 88 FPS incl. decoding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8778240" y="1188720"/>
          <a:ext cx="3063240" cy="35112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Sim-to-real gap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video mode already accepts real footage; tracker needs only frames, encoder / IMU and rate commands → HIL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±20 px jitter floor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report LOS vs image error; jitter-aware R; fine stage (FSM) hand-off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Faint beacon, clutter, look-alikes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joint position × detectability belief; CNN veto + shape tests; static look-alike rejection; beacon modulation ID (next)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CPU budget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ROI processing; CNN only on candidate patches; FPS logged each frame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CNN domain shift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CNN only verifies; classical MF-CFAR stays primary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2" name="Rounded Rectangle 17421"/>
          <p:cNvSpPr/>
          <p:nvPr/>
        </p:nvSpPr>
        <p:spPr>
          <a:xfrm>
            <a:off x="365760" y="5175504"/>
            <a:ext cx="5440680" cy="1106424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38912" y="5230368"/>
            <a:ext cx="2448893" cy="237744"/>
          </a:xfrm>
          <a:prstGeom prst="roundRect">
            <a:avLst>
              <a:gd name="adj" fmla="val 30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Measured gaps — shown, not hidden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8912" y="5477256"/>
            <a:ext cx="5330952" cy="80467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All PS maxima at once (N):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acquired in 33 % of runs; look-alikes (O) acquired in 2.9 s (&gt; 2 s) — rejecting static look-alikes costs time.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LOS error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16–21 px (&gt; 10) under vibration, fast manoeuvre, occlusion.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Jitter floor: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±20 px white jitter alone = 16.3 px RMS (analytic) — no coarse gimbal can meet 10 px image error. At ±10 px (E): image 8.9 vs LOS 4.6 px.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778240" y="5065776"/>
            <a:ext cx="30632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Implementation status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778240" y="5321807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2E7D32"/>
                </a:solidFill>
                <a:latin typeface="Arial"/>
              </a:rPr>
              <a:t>Implemented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720072" y="5276088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sim, 16 scenarios, 4 pipelines, belief search, IMM, GUI, video mode, reports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778240" y="5614416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Prototype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720072" y="5568696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CNN verifier: recall 90 %, FPR 23 % on held-out synthetic patches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778240" y="5907024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555B66"/>
                </a:solidFill>
                <a:latin typeface="Arial"/>
              </a:rPr>
              <a:t>Planned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720072" y="5861304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.exe build · HIL rig · real footage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 Regnum Carya  ·  ANVESHA  ·  SIH26169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0120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400" b="1" i="0" u="sng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25880"/>
            <a:ext cx="576072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Oval 17411"/>
          <p:cNvSpPr/>
          <p:nvPr/>
        </p:nvSpPr>
        <p:spPr>
          <a:xfrm>
            <a:off x="457200" y="1435607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32688" y="1344168"/>
            <a:ext cx="512064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ISRO / DoS PAT teams: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design &amp; regression-test coarse PAT for mobile ground terminals, UAV/HAP relays and LEO links before hardware exists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002536"/>
            <a:ext cx="576072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Oval 17414"/>
          <p:cNvSpPr/>
          <p:nvPr/>
        </p:nvSpPr>
        <p:spPr>
          <a:xfrm>
            <a:off x="457200" y="211226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32688" y="2020824"/>
            <a:ext cx="512064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Academia &amp; students: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seeded, repeatable PAT testbed — no optics lab, camera or gimbal needed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2679191"/>
            <a:ext cx="576072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Oval 17417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32688" y="2697479"/>
            <a:ext cx="512064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Indian FSOC start-ups: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tracker talks only frames, encoder/IMU and rate commands → swap simulator for a real camera + pan-tilt (HIL)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34015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250" b="1" i="0" u="sng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55080" y="960120"/>
            <a:ext cx="548640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What makes ANVESHA different</a:t>
            </a:r>
          </a:p>
        </p:txBody>
      </p:sp>
      <p:graphicFrame>
        <p:nvGraphicFramePr>
          <p:cNvPr id="17423" name="Table 17422"/>
          <p:cNvGraphicFramePr>
            <a:graphicFrameLocks noGrp="1"/>
          </p:cNvGraphicFramePr>
          <p:nvPr/>
        </p:nvGraphicFramePr>
        <p:xfrm>
          <a:off x="6355080" y="1280160"/>
          <a:ext cx="5486400" cy="32369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29000"/>
                <a:gridCol w="1188720"/>
                <a:gridCol w="8686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Typical public approach*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Probability-map (belief) search instead of a fixed spiral / raster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FOV chosen from measured noise &amp; predicted detectability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Re-acquisition seeded from the tracker's prediction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Online jitter estimate — gimbal does not chase jitter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Platform IMU feed-forward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9A6700"/>
                          </a:solidFill>
                          <a:latin typeface="Arial"/>
                        </a:rPr>
                        <a:t>some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Baselines + ablation on identical seeds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9A6700"/>
                          </a:solidFill>
                          <a:latin typeface="Arial"/>
                        </a:rPr>
                        <a:t>some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Benchmark-2 video (.mp4) bypass mode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GUI + automatic performance report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</a:tbl>
          </a:graphicData>
        </a:graphic>
      </p:graphicFrame>
      <p:sp>
        <p:nvSpPr>
          <p:cNvPr id="17424" name="TextBox 17423"/>
          <p:cNvSpPr txBox="1"/>
          <p:nvPr/>
        </p:nvSpPr>
        <p:spPr>
          <a:xfrm>
            <a:off x="6355080" y="4590288"/>
            <a:ext cx="548640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1" u="none">
                <a:solidFill>
                  <a:srgbClr val="555B66"/>
                </a:solidFill>
                <a:latin typeface="Arial"/>
              </a:rPr>
              <a:t>*majority pattern in the READMEs of 20 public SIH26169 repositories  · no team named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355080" y="4846320"/>
            <a:ext cx="5486400" cy="38404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Why acquisition matters: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an on-orbit optical link reported a 22 s acquisition time [Wang et al., Opt. Lett. 2023].</a:t>
            </a:r>
          </a:p>
        </p:txBody>
      </p:sp>
      <p:sp>
        <p:nvSpPr>
          <p:cNvPr id="17426" name="Pentagon 17425"/>
          <p:cNvSpPr/>
          <p:nvPr/>
        </p:nvSpPr>
        <p:spPr>
          <a:xfrm>
            <a:off x="365760" y="5358384"/>
            <a:ext cx="2914650" cy="868680"/>
          </a:xfrm>
          <a:prstGeom prst="homePlate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1 · SIL (now)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sim · 16 scenarios · GUI</a:t>
            </a:r>
          </a:p>
        </p:txBody>
      </p:sp>
      <p:sp>
        <p:nvSpPr>
          <p:cNvPr id="17427" name="Chevron 17426"/>
          <p:cNvSpPr/>
          <p:nvPr/>
        </p:nvSpPr>
        <p:spPr>
          <a:xfrm>
            <a:off x="3234690" y="5358384"/>
            <a:ext cx="2914650" cy="86868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2 · Real footage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video mode ready</a:t>
            </a:r>
          </a:p>
        </p:txBody>
      </p:sp>
      <p:sp>
        <p:nvSpPr>
          <p:cNvPr id="17428" name="Chevron 17427"/>
          <p:cNvSpPr/>
          <p:nvPr/>
        </p:nvSpPr>
        <p:spPr>
          <a:xfrm>
            <a:off x="6103620" y="5358384"/>
            <a:ext cx="2914650" cy="868680"/>
          </a:xfrm>
          <a:prstGeom prst="chevron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3 · HIL rig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camera + pan-tilt + beacon</a:t>
            </a:r>
          </a:p>
        </p:txBody>
      </p:sp>
      <p:sp>
        <p:nvSpPr>
          <p:cNvPr id="17429" name="Chevron 17428"/>
          <p:cNvSpPr/>
          <p:nvPr/>
        </p:nvSpPr>
        <p:spPr>
          <a:xfrm>
            <a:off x="8972550" y="5358384"/>
            <a:ext cx="2914650" cy="868680"/>
          </a:xfrm>
          <a:prstGeom prst="chevron">
            <a:avLst>
              <a:gd name="adj" fmla="val 28000"/>
            </a:avLst>
          </a:prstGeom>
          <a:solidFill>
            <a:srgbClr val="5B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4 · Fine-stage hand-off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FSM / QD removes jitter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65760" y="3703320"/>
            <a:ext cx="5760720" cy="17373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Operational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link set-up: median acquisition 1.3 s vs 6.4–9.2 s for spiral search (simulation) — less dead time per mobile hand-over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Economic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tune and regression-test PAT logic before buying cameras, pan-tilt units or an optical bench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Technical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fog, rain, jitter and vibration sweeps that cannot be repeated outdoors — every run = scenario + seed, truth-logged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Strategic / social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indigenous, auditable coarse-PAT software; open testbed for Indian students and FSOC start-ups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Environmental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fewer vehicle / field trials needed for early tuning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 Regnum Carya  ·  ANVESHA  ·  SIH26169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012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400" b="1" i="0" u="sng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25880"/>
            <a:ext cx="3703320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325880"/>
            <a:ext cx="132588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 u="none">
                <a:solidFill>
                  <a:srgbClr val="0070C0"/>
                </a:solidFill>
                <a:latin typeface="Arial"/>
              </a:rPr>
              <a:t>134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37360" y="1325880"/>
            <a:ext cx="2240279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papers in a structured literature database (DOIs)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60" y="1325880"/>
            <a:ext cx="3703320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43400" y="1325880"/>
            <a:ext cx="132588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 u="none">
                <a:solidFill>
                  <a:srgbClr val="0070C0"/>
                </a:solidFill>
                <a:latin typeface="Arial"/>
              </a:rPr>
              <a:t>20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23560" y="1325880"/>
            <a:ext cx="2240279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public SIH26169 repositories analysed for differentiation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38160" y="1325880"/>
            <a:ext cx="3703320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29600" y="1325880"/>
            <a:ext cx="132588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 u="none">
                <a:solidFill>
                  <a:srgbClr val="0070C0"/>
                </a:solidFill>
                <a:latin typeface="Arial"/>
              </a:rPr>
              <a:t>16×4×3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509760" y="1325880"/>
            <a:ext cx="2240279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scenarios × pipelines × seeds + 7-way ablation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2011680"/>
            <a:ext cx="5600700" cy="2743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Kaymak Y. et al., “A Survey on Acquisition, Tracking, and Pointing Mechanisms for Mobile FSO Communications,” IEEE COMST, 2018.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doi.org/10.1109/comst.2018.2804323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[2]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Abdelfatah R. et al., “A review on PAT approaches in UAV-based FSO communication systems,” Opt. Quantum Electron., 2022.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doi.org/10.1007/s11082-022-03968-2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[3]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Wang X. et al., “On-orbit space optical communication demonstration with a 22 s acquisition time,” Opt. Lett., 2023.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doi.org/10.1364/ol.505966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[4]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Friederichs L. et al., “Vibration Influence on Hit Probability During Beaconless Spatial Acquisition,” J. Lightwave Technol., 2016.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doi.org/10.1109/jlt.2016.2542918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[5]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Wang T. et al., “Probability Descent-Based Equivalent Spot Scanning for Satellite Laser Acquisition…,” IEEE TAES, 2025.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doi.org/10.1109/taes.2025.3596959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[6]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Skryja P., Barcik P., “Optimal Scanning Pattern for Initial Free-Space Optical-Link Alignment,” Photonics, 2024.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doi.org/10.3390/photonics11060540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40780" y="2011680"/>
            <a:ext cx="5600700" cy="2743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[7]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Wang Q. et al., “Approach for recognizing and tracking beacon in inter-satellite optical communication…,” Opt. Express, 2018.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doi.org/10.1364/oe.26.028080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[8]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Lim H. et al., “Centroid Error Analysis of Beacon Tracking under Atmospheric Turbulence…,” Remote Sensing, 2021.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doi.org/10.3390/rs13101931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[9]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Li L. et al., “Noise adaptive fading Kalman filter for free-space laser communication beacon tracking,” Appl. Opt., 2016.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doi.org/10.1364/ao.55.008486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[10]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Youn W., Myung H., “Robust Interacting Multiple Model With Modeling Uncertainties for Maneuvering Target Tracking,” IEEE Access, 2019.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doi.org/10.1109/access.2019.2915506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[11]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Bian Q. et al., “Accelerometer-Assisted Disturbance Feedforward Control of an Inertially Stabilized Platform…,” IEEE Sensors J., 2023.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doi.org/10.1109/jsen.2023.3259446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[12]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Kiesbye J. et al., “Hardware-In-The-Loop and Software-In-The-Loop Testing of the MOVE-II CubeSat,” Aerospace, 2019.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doi.org/10.3390/aerospace6120130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4315968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4352544"/>
            <a:ext cx="3749039" cy="184708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SCALABILITY &amp; DEPLOYMENT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900" b="1" i="0" u="none">
                <a:solidFill>
                  <a:srgbClr val="1A1A1A"/>
                </a:solidFill>
                <a:latin typeface="Arial"/>
              </a:rPr>
              <a:t>Hardware-agnostic: 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tracker consumes only frames, encoder angles, IMU rates → a camera + pan-tilt adapter replaces the simulator (planned)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900" b="1" i="0" u="none">
                <a:solidFill>
                  <a:srgbClr val="1A1A1A"/>
                </a:solidFill>
                <a:latin typeface="Arial"/>
              </a:rPr>
              <a:t>Terminal-agnostic: 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resolution, FOV, zoom set, gimbal limits, noise &amp; atmosphere are YAML parameters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900" b="1" i="0" u="none">
                <a:solidFill>
                  <a:srgbClr val="1A1A1A"/>
                </a:solidFill>
                <a:latin typeface="Arial"/>
              </a:rPr>
              <a:t>Compute headroom: 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laptop CPU, no GPU — ≥ 51 FPS closed loop; 2000×2000 video at 88 FPS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900" b="1" i="0" u="none">
                <a:solidFill>
                  <a:srgbClr val="1A1A1A"/>
                </a:solidFill>
                <a:latin typeface="Arial"/>
              </a:rPr>
              <a:t>Regression at scale: 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192-run matrix in parallel across CPU cores; unit tests + fixed seeds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434840" y="4315968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544568" y="4370831"/>
            <a:ext cx="3712463" cy="18288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C55A11"/>
                </a:solidFill>
                <a:latin typeface="Arial"/>
              </a:rPr>
              <a:t>THE ONE THING TO REMEMBER</a:t>
            </a:r>
          </a:p>
          <a:p>
            <a:pPr algn="l">
              <a:spcAft>
                <a:spcPts val="3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Detecting a bright spot is easy — knowing </a:t>
            </a:r>
            <a:r>
              <a:rPr sz="1200" b="1" i="0" u="none">
                <a:solidFill>
                  <a:srgbClr val="C55A11"/>
                </a:solidFill>
                <a:latin typeface="Arial"/>
              </a:rPr>
              <a:t>where</a:t>
            </a:r>
            <a:r>
              <a:rPr sz="1200" b="1" i="0" u="none">
                <a:solidFill>
                  <a:srgbClr val="1F497D"/>
                </a:solidFill>
                <a:latin typeface="Arial"/>
              </a:rPr>
              <a:t> and </a:t>
            </a:r>
            <a:r>
              <a:rPr sz="1200" b="1" i="0" u="none">
                <a:solidFill>
                  <a:srgbClr val="C55A11"/>
                </a:solidFill>
                <a:latin typeface="Arial"/>
              </a:rPr>
              <a:t>how wide</a:t>
            </a:r>
            <a:r>
              <a:rPr sz="1200" b="1" i="0" u="none">
                <a:solidFill>
                  <a:srgbClr val="1F497D"/>
                </a:solidFill>
                <a:latin typeface="Arial"/>
              </a:rPr>
              <a:t> to look is the problem.</a:t>
            </a:r>
          </a:p>
          <a:p>
            <a:pPr algn="l">
              <a:spcAft>
                <a:spcPts val="30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ANVESHA: 1.3 s median acquisition vs 6.4–9.2 s blind search; all PS limits met in 11/16 scenarios (baselines 0/16).</a:t>
            </a:r>
          </a:p>
          <a:p>
            <a:pPr algn="l">
              <a:spcAft>
                <a:spcPts val="300"/>
              </a:spcAft>
            </a:pPr>
            <a:r>
              <a:rPr sz="750" b="0" i="1" u="none">
                <a:solidFill>
                  <a:srgbClr val="555B66"/>
                </a:solidFill>
                <a:latin typeface="Arial"/>
              </a:rPr>
              <a:t>Measured in simulation · failures shown on slide 4 · Based on our review of 134 papers and 20 public SIH26169 repositories, we did not identify a coarse-PAT system that combines belief search, noise-aware FOV and belief-seeded re-acquisition.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503920" y="4315968"/>
            <a:ext cx="3337560" cy="1920240"/>
          </a:xfrm>
          <a:prstGeom prst="roundRect">
            <a:avLst>
              <a:gd name="adj" fmla="val 6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595360" y="4352544"/>
            <a:ext cx="3154679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2E7D32"/>
                </a:solidFill>
                <a:latin typeface="Arial"/>
              </a:rPr>
              <a:t>PROJECT RESOURCES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641080" y="4645152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1C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B71C1C"/>
                </a:solidFill>
                <a:latin typeface="Arial"/>
              </a:rPr>
              <a:t>QR</a:t>
            </a:r>
          </a:p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B71C1C"/>
                </a:solidFill>
                <a:latin typeface="Arial"/>
              </a:rPr>
              <a:t>add link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549640" y="5532120"/>
            <a:ext cx="1051560" cy="2011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Source code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710928" y="4645152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1C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B71C1C"/>
                </a:solidFill>
                <a:latin typeface="Arial"/>
              </a:rPr>
              <a:t>QR</a:t>
            </a:r>
          </a:p>
          <a:p>
            <a:pPr algn="ctr">
              <a:spcAft>
                <a:spcPts val="0"/>
              </a:spcAft>
            </a:pPr>
            <a:r>
              <a:rPr sz="800" b="0" i="0" u="none">
                <a:solidFill>
                  <a:srgbClr val="B71C1C"/>
                </a:solidFill>
                <a:latin typeface="Arial"/>
              </a:rPr>
              <a:t>add link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619488" y="5532120"/>
            <a:ext cx="1051560" cy="2011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Demo video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0716768" y="4645152"/>
            <a:ext cx="1097279" cy="146304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Offline demo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run_gui.bat</a:t>
            </a:r>
          </a:p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Benchmark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run_benchmark.bat</a:t>
            </a:r>
          </a:p>
          <a:p>
            <a:pPr algn="l">
              <a:spcAft>
                <a:spcPts val="0"/>
              </a:spcAft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B-2 video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run_video.bat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595360" y="5852160"/>
            <a:ext cx="3154679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1" u="none">
                <a:solidFill>
                  <a:srgbClr val="555B66"/>
                </a:solidFill>
                <a:latin typeface="Arial"/>
              </a:rPr>
              <a:t>Every number on slides 1–6 is regenerated from results/*.json by the build script.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
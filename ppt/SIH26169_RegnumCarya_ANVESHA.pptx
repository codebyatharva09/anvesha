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1. The physics (left panel): "The screen is 12.5° × 12.5°. The default 4° × 3° camera sees</a:t>
            </a:r>
          </a:p>
          <a:p>
            <a:r>
              <a:t>   7.7 % of it. At 5 °/s the gimbal can slew at most 10° in two seconds, but a blind raster at</a:t>
            </a:r>
          </a:p>
          <a:p>
            <a:r>
              <a:t>   the base FOV needs roughly 40–50° of slew — about 8–10 s worst case. So ≤ 2 s from a random</a:t>
            </a:r>
          </a:p>
          <a:p>
            <a:r>
              <a:t>   start is not a tuning problem; it is a where-to-look problem."</a:t>
            </a:r>
          </a:p>
          <a:p>
            <a:r>
              <a:t>2. The loop (middle): "Camera → detect → estimate → belief and planner → control → gimbal.</a:t>
            </a:r>
          </a:p>
          <a:p>
            <a:r>
              <a:t>   The orange block is what is new: one probability map of where the beacon can be. Every frame</a:t>
            </a:r>
          </a:p>
          <a:p>
            <a:r>
              <a:t>   in which we do not see the beacon removes probability from the area we looked at. The planner</a:t>
            </a:r>
          </a:p>
          <a:p>
            <a:r>
              <a:t>   picks the next pointing and FOV (1×, 2× or 3× the base FOV) that gives the highest detection</a:t>
            </a:r>
          </a:p>
          <a:p>
            <a:r>
              <a:t>   probability per second, using the noise we actually measure in the image."</a:t>
            </a:r>
          </a:p>
          <a:p>
            <a:r>
              <a:t>3. Innovation (right): read the three titles only — belief-driven search, disturbance-aware FOV,</a:t>
            </a:r>
          </a:p>
          <a:p>
            <a:r>
              <a:t>   one belief across the whole search–track–loss–re-acquire lifecycle.</a:t>
            </a:r>
          </a:p>
          <a:p>
            <a:r>
              <a:t>4. Table: "Typical public approaches use a fixed spiral, a rule-switched wide FOV, or restart</a:t>
            </a:r>
          </a:p>
          <a:p>
            <a:r>
              <a:t>   the spiral after a loss. We replace each with a probabilistic decision."</a:t>
            </a:r>
          </a:p>
          <a:p>
            <a:r>
              <a:t>5. Point to the measured badge: "Measured on identical seeds, 77 % of our 48 runs acquire within</a:t>
            </a:r>
          </a:p>
          <a:p>
            <a:r>
              <a:t>   2 s versus 12–15 % for three spiral baselines. Slide 4 shows where we still fail."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"Top band: a 240 Hz physics simulation — beacon on seven trajectories, platform motion with an IMU,</a:t>
            </a:r>
          </a:p>
          <a:p>
            <a:r>
              <a:t>and every PS disturbance: Gaussian, Poisson and salt-and-pepper noise, jitter, haze, fog, rain, low</a:t>
            </a:r>
          </a:p>
          <a:p>
            <a:r>
              <a:t>light and turbulence. The virtual focal-plane-array camera is 640 × 480 at 30 Hz; the gimbal is rate</a:t>
            </a:r>
          </a:p>
          <a:p>
            <a:r>
              <a:t>limited to 5 °/s with lag and latency.</a:t>
            </a:r>
          </a:p>
          <a:p>
            <a:r>
              <a:t>The navy row is the tracking chain: perception with a matched filter and CFAR threshold plus a</a:t>
            </a:r>
          </a:p>
          <a:p>
            <a:r>
              <a:t>small CNN verifier; gated association; an IMM estimator whose measurement noise adapts to the</a:t>
            </a:r>
          </a:p>
          <a:p>
            <a:r>
              <a:t>jitter it measures; a supervisor state machine; and a 60 Hz predictive controller with IMU</a:t>
            </a:r>
          </a:p>
          <a:p>
            <a:r>
              <a:t>feed-forward.</a:t>
            </a:r>
          </a:p>
          <a:p>
            <a:r>
              <a:t>Orange is the belief search, connected to the supervisor in both directions. Amber is Benchmark-2:</a:t>
            </a:r>
          </a:p>
          <a:p>
            <a:r>
              <a:t>an evaluator's .mp4 bypasses the camera and enters the same perception and estimator. Green is</a:t>
            </a:r>
          </a:p>
          <a:p>
            <a:r>
              <a:t>the metrics layer — it is the only place that sees ground truth — and it writes the per-frame CSV,</a:t>
            </a:r>
          </a:p>
          <a:p>
            <a:r>
              <a:t>JSON summary and HTML report automatically. The screenshot is the live mission-control GUI."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"This slide is our evidence, including where we fail. Left: ANVESHA on 16 scenarios, three seeds</a:t>
            </a:r>
          </a:p>
          <a:p>
            <a:r>
              <a:t>each, against every PS limit — green meets it, red does not. It meets all PS checks in 9 of 16</a:t>
            </a:r>
          </a:p>
          <a:p>
            <a:r>
              <a:t>scenarios; the three baselines, run on the same seeds, meet all checks in none.</a:t>
            </a:r>
          </a:p>
          <a:p>
            <a:r>
              <a:t>Middle: 77 % of 48 runs acquire within 2 s versus 12–15 % for spiral baselines. [If shown: the</a:t>
            </a:r>
          </a:p>
          <a:p>
            <a:r>
              <a:t>ablation line says what each part buys.] Re-acquisition after two scripted occlusions averages</a:t>
            </a:r>
          </a:p>
          <a:p>
            <a:r>
              <a:t>0.07 s with nothing unrecovered. In Benchmark-2 video mode on a 2000 × 2000, 30 fps clip the</a:t>
            </a:r>
          </a:p>
          <a:p>
            <a:r>
              <a:t>raw centroid RMSE is 0.14 px at 29 FPS end-to-end including video decoding.</a:t>
            </a:r>
          </a:p>
          <a:p>
            <a:r>
              <a:t>Bottom: our measured gaps. In dense fog and rain we did not acquire at all; look-alike distractors</a:t>
            </a:r>
          </a:p>
          <a:p>
            <a:r>
              <a:t>and the all-maxima case cause false locks; LOS error exceeds 10 px under vibration, fast</a:t>
            </a:r>
          </a:p>
          <a:p>
            <a:r>
              <a:t>manoeuvres and occlusion. And one limit nobody can meet with a coarse gimbal: ±20 px white jitter</a:t>
            </a:r>
          </a:p>
          <a:p>
            <a:r>
              <a:t>alone is 16.3 px RMS, above the 10 px limit. We report LOS error and image error separately so</a:t>
            </a:r>
          </a:p>
          <a:p>
            <a:r>
              <a:t>the evaluator can see which part is correctable."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"Three audiences. ISRO and DoS PAT teams can design and regression-test coarse-PAT logic for mobile</a:t>
            </a:r>
          </a:p>
          <a:p>
            <a:r>
              <a:t>ground terminals, UAV or HAP relays and LEO downlinks before hardware exists. Students and</a:t>
            </a:r>
          </a:p>
          <a:p>
            <a:r>
              <a:t>researchers get an open, seeded testbed without an optics lab. Indian FSOC start-ups can move the</a:t>
            </a:r>
          </a:p>
          <a:p>
            <a:r>
              <a:t>same algorithms onto a real camera and pan-tilt, because the tracker only exchanges frames, encoder and IMU</a:t>
            </a:r>
          </a:p>
          <a:p>
            <a:r>
              <a:t>readings and rate commands with the world.</a:t>
            </a:r>
          </a:p>
          <a:p>
            <a:r>
              <a:t>The benefit the PS itself names is cost: expensive cameras, pan-tilt units and optical benches are</a:t>
            </a:r>
          </a:p>
          <a:p>
            <a:r>
              <a:t>needed only for final validation. Acquisition time matters in practice — an on-orbit optical link</a:t>
            </a:r>
          </a:p>
          <a:p>
            <a:r>
              <a:t>demonstration reported a 22-second acquisition. Our roadmap: today software-in-the-loop; next real</a:t>
            </a:r>
          </a:p>
          <a:p>
            <a:r>
              <a:t>footage through the video mode; then a hardware-in-the-loop rig; finally hand-off to a fine-steering</a:t>
            </a:r>
          </a:p>
          <a:p>
            <a:r>
              <a:t>stage that removes the residual jitter."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"We built a 134-paper database covering PAT surveys, scanning-based acquisition, beacon centroiding,</a:t>
            </a:r>
          </a:p>
          <a:p>
            <a:r>
              <a:t>IMM tracking and gimbal disturbance rejection, and read the READMEs of 20 public SIH26169</a:t>
            </a:r>
          </a:p>
          <a:p>
            <a:r>
              <a:t>repositories to see what is already common. Based on that review we did not identify a coarse-PAT</a:t>
            </a:r>
          </a:p>
          <a:p>
            <a:r>
              <a:t>system combining a recursively updated belief map, FOV selection from measured noise and</a:t>
            </a:r>
          </a:p>
          <a:p>
            <a:r>
              <a:t>belief-seeded re-acquisition. The twelve references here are the ones our design directly uses."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"We are Regnum Carya. Our problem statement is SIH26169 from ISRO: a virtual camera tracking</a:t>
            </a:r>
          </a:p>
          <a:p>
            <a:r>
              <a:t>system for coarse alignment of mobile free-space optical terminals. Our solution is called</a:t>
            </a:r>
          </a:p>
          <a:p>
            <a:r>
              <a:t>ANVESHA — Sanskrit for search — because we found that the hard part of this problem is not</a:t>
            </a:r>
          </a:p>
          <a:p>
            <a:r>
              <a:t>detecting a bright spot, it is deciding where to look, how wide to look, and what not to chase."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82880" y="-526757"/>
            <a:ext cx="9509760" cy="2076450"/>
          </a:xfrm>
        </p:spPr>
        <p:txBody>
          <a:bodyPr/>
          <a:lstStyle/>
          <a:p>
            <a:r>
              <a:rPr lang="en-US" sz="38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38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ProjectName"/>
          <p:cNvSpPr txBox="1"/>
          <p:nvPr/>
        </p:nvSpPr>
        <p:spPr>
          <a:xfrm>
            <a:off x="411480" y="1783080"/>
            <a:ext cx="6035040" cy="566928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3400" b="1" i="0" u="none">
                <a:solidFill>
                  <a:srgbClr val="1F497D"/>
                </a:solidFill>
                <a:latin typeface="Times New Roman"/>
              </a:rPr>
              <a:t>ANVESHA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" y="2331720"/>
            <a:ext cx="5943600" cy="36576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1" i="0" u="none">
                <a:solidFill>
                  <a:srgbClr val="0070C0"/>
                </a:solidFill>
                <a:latin typeface="Arial"/>
              </a:rPr>
              <a:t>Belief-Driven Coarse PAT for Mobile FSOC Terminals</a:t>
            </a:r>
          </a:p>
        </p:txBody>
      </p:sp>
      <p:sp>
        <p:nvSpPr>
          <p:cNvPr id="40" name="Fields"/>
          <p:cNvSpPr txBox="1"/>
          <p:nvPr/>
        </p:nvSpPr>
        <p:spPr>
          <a:xfrm>
            <a:off x="411480" y="2926080"/>
            <a:ext cx="6035040" cy="356616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 marL="219456" indent="-219456">
              <a:spcAft>
                <a:spcPts val="1100"/>
              </a:spcAft>
              <a:buFont typeface="Arial"/>
              <a:buChar char="•"/>
            </a:pPr>
            <a:r>
              <a:rPr sz="1500" b="1" i="0" u="none">
                <a:solidFill>
                  <a:srgbClr val="1A1A1A"/>
                </a:solidFill>
                <a:latin typeface="Arial"/>
              </a:rPr>
              <a:t>Problem Statement ID – </a:t>
            </a:r>
            <a:r>
              <a:rPr sz="1500" b="0" i="0" u="none">
                <a:solidFill>
                  <a:srgbClr val="1A1A1A"/>
                </a:solidFill>
                <a:latin typeface="Arial"/>
              </a:rPr>
              <a:t>SIH26169</a:t>
            </a:r>
          </a:p>
          <a:p>
            <a:pPr algn="l" marL="219456" indent="-219456">
              <a:spcAft>
                <a:spcPts val="1100"/>
              </a:spcAft>
              <a:buFont typeface="Arial"/>
              <a:buChar char="•"/>
            </a:pPr>
            <a:r>
              <a:rPr sz="1500" b="1" i="0" u="none">
                <a:solidFill>
                  <a:srgbClr val="1A1A1A"/>
                </a:solidFill>
                <a:latin typeface="Arial"/>
              </a:rPr>
              <a:t>Problem Statement Title – </a:t>
            </a:r>
            <a:r>
              <a:rPr sz="1500" b="0" i="0" u="none">
                <a:solidFill>
                  <a:srgbClr val="1A1A1A"/>
                </a:solidFill>
                <a:latin typeface="Arial"/>
              </a:rPr>
              <a:t>Development of an AI-Based Virtual Camera Tracking System for Coarse Alignment of Mobile Free Space Optical Communication (FSOC) Terminals</a:t>
            </a:r>
          </a:p>
          <a:p>
            <a:pPr algn="l" marL="219456" indent="-219456">
              <a:spcAft>
                <a:spcPts val="1100"/>
              </a:spcAft>
              <a:buFont typeface="Arial"/>
              <a:buChar char="•"/>
            </a:pPr>
            <a:r>
              <a:rPr sz="1500" b="1" i="0" u="none">
                <a:solidFill>
                  <a:srgbClr val="1A1A1A"/>
                </a:solidFill>
                <a:latin typeface="Arial"/>
              </a:rPr>
              <a:t>Theme – </a:t>
            </a:r>
            <a:r>
              <a:rPr sz="1500" b="0" i="0" u="none">
                <a:solidFill>
                  <a:srgbClr val="1A1A1A"/>
                </a:solidFill>
                <a:latin typeface="Arial"/>
              </a:rPr>
              <a:t>Smart Automation / Space Technology</a:t>
            </a:r>
          </a:p>
          <a:p>
            <a:pPr algn="l" marL="219456" indent="-219456">
              <a:spcAft>
                <a:spcPts val="1100"/>
              </a:spcAft>
              <a:buFont typeface="Arial"/>
              <a:buChar char="•"/>
            </a:pPr>
            <a:r>
              <a:rPr sz="1500" b="1" i="0" u="none">
                <a:solidFill>
                  <a:srgbClr val="1A1A1A"/>
                </a:solidFill>
                <a:latin typeface="Arial"/>
              </a:rPr>
              <a:t>PS Category – </a:t>
            </a:r>
            <a:r>
              <a:rPr sz="1500" b="0" i="0" u="none">
                <a:solidFill>
                  <a:srgbClr val="1A1A1A"/>
                </a:solidFill>
                <a:latin typeface="Arial"/>
              </a:rPr>
              <a:t>Software</a:t>
            </a:r>
          </a:p>
          <a:p>
            <a:pPr algn="l" marL="219456" indent="-219456">
              <a:spcAft>
                <a:spcPts val="1100"/>
              </a:spcAft>
              <a:buFont typeface="Arial"/>
              <a:buChar char="•"/>
            </a:pPr>
            <a:r>
              <a:rPr sz="1500" b="1" i="0" u="none">
                <a:solidFill>
                  <a:srgbClr val="1A1A1A"/>
                </a:solidFill>
                <a:latin typeface="Arial"/>
              </a:rPr>
              <a:t>Team ID – </a:t>
            </a:r>
            <a:r>
              <a:rPr sz="1500" b="0" i="0" u="none">
                <a:solidFill>
                  <a:srgbClr val="1A1A1A"/>
                </a:solidFill>
                <a:latin typeface="Arial"/>
              </a:rPr>
              <a:t>________</a:t>
            </a:r>
          </a:p>
          <a:p>
            <a:pPr algn="l" marL="219456" indent="-219456">
              <a:spcAft>
                <a:spcPts val="1100"/>
              </a:spcAft>
              <a:buFont typeface="Arial"/>
              <a:buChar char="•"/>
            </a:pPr>
            <a:r>
              <a:rPr sz="1500" b="1" i="0" u="none">
                <a:solidFill>
                  <a:srgbClr val="1A1A1A"/>
                </a:solidFill>
                <a:latin typeface="Arial"/>
              </a:rPr>
              <a:t>Team Name (Registered on portal) – </a:t>
            </a:r>
            <a:r>
              <a:rPr sz="1500" b="0" i="0" u="none">
                <a:solidFill>
                  <a:srgbClr val="1A1A1A"/>
                </a:solidFill>
                <a:latin typeface="Arial"/>
              </a:rPr>
              <a:t>Regnum Carya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46520" y="6053328"/>
            <a:ext cx="4480560" cy="45720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ctr">
              <a:spcAft>
                <a:spcPts val="100"/>
              </a:spcAft>
            </a:pPr>
            <a:r>
              <a:rPr sz="1250" b="1" i="1" u="none">
                <a:solidFill>
                  <a:srgbClr val="1F497D"/>
                </a:solidFill>
                <a:latin typeface="Arial"/>
              </a:rPr>
              <a:t>Where to look · how wide to look · what not to chase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/>
            <a:r>
              <a:rPr sz="1050" b="1" i="0" u="none">
                <a:solidFill>
                  <a:srgbClr val="1F497D"/>
                </a:solidFill>
                <a:latin typeface="Arial"/>
              </a:rPr>
              <a:t>Regnum Carya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365760" y="1005840"/>
            <a:ext cx="896112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marL="219456" indent="-219456">
              <a:buFont typeface="Wingdings" pitchFamily="2" charset="2"/>
              <a:buChar char="v"/>
            </a:pPr>
            <a:r>
              <a:rPr sz="1600" b="1" i="0" u="sng">
                <a:solidFill>
                  <a:srgbClr val="1F497D"/>
                </a:solidFill>
                <a:latin typeface="Arial"/>
              </a:rPr>
              <a:t>Proposed Solution (Describe your Idea/Solution/Prototype)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365760" y="1371600"/>
            <a:ext cx="7818120" cy="411480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 i="0" u="none">
                <a:solidFill>
                  <a:srgbClr val="1F497D"/>
                </a:solidFill>
                <a:latin typeface="Arial"/>
              </a:rPr>
              <a:t>ANVESHA: </a:t>
            </a:r>
            <a:r>
              <a:rPr sz="1350" b="0" i="0" u="none">
                <a:solidFill>
                  <a:srgbClr val="1A1A1A"/>
                </a:solidFill>
                <a:latin typeface="Arial"/>
              </a:rPr>
              <a:t>a probability map of the beacon decides </a:t>
            </a:r>
            <a:r>
              <a:rPr sz="1350" b="1" i="0" u="none">
                <a:solidFill>
                  <a:srgbClr val="1A1A1A"/>
                </a:solidFill>
                <a:latin typeface="Arial"/>
              </a:rPr>
              <a:t>where to point</a:t>
            </a:r>
            <a:r>
              <a:rPr sz="1350" b="0" i="0" u="none">
                <a:solidFill>
                  <a:srgbClr val="1A1A1A"/>
                </a:solidFill>
                <a:latin typeface="Arial"/>
              </a:rPr>
              <a:t> and </a:t>
            </a:r>
            <a:r>
              <a:rPr sz="1350" b="1" i="0" u="none">
                <a:solidFill>
                  <a:srgbClr val="1A1A1A"/>
                </a:solidFill>
                <a:latin typeface="Arial"/>
              </a:rPr>
              <a:t>how wide to look</a:t>
            </a:r>
            <a:r>
              <a:rPr sz="1350" b="0" i="0" u="none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8366760" y="1307592"/>
            <a:ext cx="3474720" cy="457200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100"/>
              </a:spcAft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Measured (SIL, 48 runs each):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90 % of runs acquired ≤ 2 s vs 12–15 % for spiral baselines (slide 4)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365760" y="1810512"/>
            <a:ext cx="3611880" cy="2852928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457200" y="1883664"/>
            <a:ext cx="2307945" cy="237744"/>
          </a:xfrm>
          <a:prstGeom prst="roundRect">
            <a:avLst>
              <a:gd name="adj" fmla="val 3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>
            <a:noAutofit/>
          </a:bodyPr>
          <a:lstStyle/>
          <a:p>
            <a:pPr algn="ctr">
              <a:spcAft>
                <a:spcPts val="100"/>
              </a:spcAft>
            </a:pPr>
            <a:r>
              <a:rPr sz="1050" b="1" i="0" u="none">
                <a:solidFill>
                  <a:srgbClr val="FFFFFF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67" name="Rectangle 15366"/>
          <p:cNvSpPr/>
          <p:nvPr/>
        </p:nvSpPr>
        <p:spPr>
          <a:xfrm>
            <a:off x="502920" y="2267712"/>
            <a:ext cx="123444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368" name="Rectangle 15367"/>
          <p:cNvSpPr/>
          <p:nvPr/>
        </p:nvSpPr>
        <p:spPr>
          <a:xfrm>
            <a:off x="527608" y="2440533"/>
            <a:ext cx="1185062" cy="888796"/>
          </a:xfrm>
          <a:prstGeom prst="rect">
            <a:avLst/>
          </a:prstGeom>
          <a:noFill/>
          <a:ln w="12700">
            <a:solidFill>
              <a:srgbClr val="C55A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369" name="Rectangle 15368"/>
          <p:cNvSpPr/>
          <p:nvPr/>
        </p:nvSpPr>
        <p:spPr>
          <a:xfrm>
            <a:off x="922629" y="2736799"/>
            <a:ext cx="395020" cy="29626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457200" y="3520440"/>
            <a:ext cx="3383280" cy="22860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 u="none">
                <a:solidFill>
                  <a:srgbClr val="555B66"/>
                </a:solidFill>
                <a:latin typeface="Arial"/>
              </a:rPr>
              <a:t>To scale: screen 12.5°×12.5° · </a:t>
            </a:r>
            <a:r>
              <a:rPr sz="900" b="0" i="0" u="none">
                <a:solidFill>
                  <a:srgbClr val="0070C0"/>
                </a:solidFill>
                <a:latin typeface="Arial"/>
              </a:rPr>
              <a:t>■ </a:t>
            </a:r>
            <a:r>
              <a:rPr sz="900" b="0" i="0" u="none">
                <a:solidFill>
                  <a:srgbClr val="555B66"/>
                </a:solidFill>
                <a:latin typeface="Arial"/>
              </a:rPr>
              <a:t>4°×3° base FOV · </a:t>
            </a:r>
            <a:r>
              <a:rPr sz="900" b="0" i="0" u="none">
                <a:solidFill>
                  <a:srgbClr val="C55A11"/>
                </a:solidFill>
                <a:latin typeface="Arial"/>
              </a:rPr>
              <a:t>▭ </a:t>
            </a:r>
            <a:r>
              <a:rPr sz="900" b="0" i="0" u="none">
                <a:solidFill>
                  <a:srgbClr val="555B66"/>
                </a:solidFill>
                <a:latin typeface="Arial"/>
              </a:rPr>
              <a:t>12°×9° wide FOV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1847088" y="2194560"/>
            <a:ext cx="2103120" cy="173736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4°×3° FOV = </a:t>
            </a:r>
            <a:r>
              <a:rPr sz="1000" b="1" i="0" u="none">
                <a:solidFill>
                  <a:srgbClr val="1A1A1A"/>
                </a:solidFill>
                <a:latin typeface="Arial"/>
              </a:rPr>
              <a:t>7.7 %</a:t>
            </a:r>
            <a:r>
              <a:rPr sz="1000" b="0" i="0" u="none">
                <a:solidFill>
                  <a:srgbClr val="1A1A1A"/>
                </a:solidFill>
                <a:latin typeface="Arial"/>
              </a:rPr>
              <a:t> of the screen</a:t>
            </a:r>
          </a:p>
          <a:p>
            <a:pPr algn="l">
              <a:spcAft>
                <a:spcPts val="200"/>
              </a:spcAft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5 °/s gimbal ⇒ ≤ 10° slew in 2 s</a:t>
            </a:r>
          </a:p>
          <a:p>
            <a:pPr algn="l">
              <a:spcAft>
                <a:spcPts val="200"/>
              </a:spcAft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Blind raster needs ≈ 40–50° of slew ⇒ </a:t>
            </a:r>
            <a:r>
              <a:rPr sz="1000" b="1" i="0" u="none">
                <a:solidFill>
                  <a:srgbClr val="B71C1C"/>
                </a:solidFill>
                <a:latin typeface="Arial"/>
              </a:rPr>
              <a:t>~8–10 s</a:t>
            </a:r>
          </a:p>
          <a:p>
            <a:pPr algn="l">
              <a:spcAft>
                <a:spcPts val="200"/>
              </a:spcAft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Measured spiral baselines A / B: median </a:t>
            </a:r>
            <a:r>
              <a:rPr sz="1000" b="1" i="0" u="none">
                <a:solidFill>
                  <a:srgbClr val="B71C1C"/>
                </a:solidFill>
                <a:latin typeface="Arial"/>
              </a:rPr>
              <a:t>7.8 / 9.2 s</a:t>
            </a:r>
          </a:p>
          <a:p>
            <a:pPr algn="l">
              <a:spcAft>
                <a:spcPts val="200"/>
              </a:spcAft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PS asks </a:t>
            </a:r>
            <a:r>
              <a:rPr sz="1000" b="1" i="0" u="none">
                <a:solidFill>
                  <a:srgbClr val="B71C1C"/>
                </a:solidFill>
                <a:latin typeface="Arial"/>
              </a:rPr>
              <a:t>≤ 2 s</a:t>
            </a:r>
            <a:r>
              <a:rPr sz="1000" b="0" i="0" u="none">
                <a:solidFill>
                  <a:srgbClr val="1A1A1A"/>
                </a:solidFill>
                <a:latin typeface="Arial"/>
              </a:rPr>
              <a:t> from a random start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457200" y="4096512"/>
            <a:ext cx="342900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8C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100"/>
              </a:spcAft>
            </a:pPr>
            <a:r>
              <a:rPr sz="1150" b="1" i="0" u="none">
                <a:solidFill>
                  <a:srgbClr val="1F497D"/>
                </a:solidFill>
                <a:latin typeface="Arial"/>
              </a:rPr>
              <a:t>Detecting a bright spot is easy. </a:t>
            </a:r>
            <a:r>
              <a:rPr sz="1150" b="0" i="0" u="none">
                <a:solidFill>
                  <a:srgbClr val="1A1A1A"/>
                </a:solidFill>
                <a:latin typeface="Arial"/>
              </a:rPr>
              <a:t>Knowing </a:t>
            </a:r>
            <a:r>
              <a:rPr sz="1150" b="1" i="0" u="none">
                <a:solidFill>
                  <a:srgbClr val="C55A11"/>
                </a:solidFill>
                <a:latin typeface="Arial"/>
              </a:rPr>
              <a:t>where to look</a:t>
            </a:r>
            <a:r>
              <a:rPr sz="1150" b="0" i="0" u="none">
                <a:solidFill>
                  <a:srgbClr val="1A1A1A"/>
                </a:solidFill>
                <a:latin typeface="Arial"/>
              </a:rPr>
              <a:t> is the real problem.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4114800" y="1810512"/>
            <a:ext cx="4114800" cy="2852928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4206240" y="1883664"/>
            <a:ext cx="3066897" cy="237744"/>
          </a:xfrm>
          <a:prstGeom prst="roundRect">
            <a:avLst>
              <a:gd name="adj" fmla="val 3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>
            <a:noAutofit/>
          </a:bodyPr>
          <a:lstStyle/>
          <a:p>
            <a:pPr algn="ctr">
              <a:spcAft>
                <a:spcPts val="100"/>
              </a:spcAft>
            </a:pPr>
            <a:r>
              <a:rPr sz="1050" b="1" i="0" u="none">
                <a:solidFill>
                  <a:srgbClr val="FFFFFF"/>
                </a:solidFill>
                <a:latin typeface="Arial"/>
              </a:rPr>
              <a:t>Detailed explanation — the closed loop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4251960" y="2633472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Camera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640×480 · 30 Hz
FOV 1× / 2× / 3×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5577840" y="2633472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Detect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MF-CFAR +
CNN verifier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6903720" y="2633472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Estimate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IMM · jitter-
aware noise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4251960" y="3685031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Gimbal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rate-limited
5 °/s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5577840" y="3685031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Control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predictive +
IMU feed-fwd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6903720" y="3685031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DEEE3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C55A11"/>
                </a:solidFill>
                <a:latin typeface="Arial"/>
              </a:rPr>
              <a:t>Belief + planner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where &amp; how
wide to look</a:t>
            </a:r>
          </a:p>
        </p:txBody>
      </p:sp>
      <p:cxnSp>
        <p:nvCxnSpPr>
          <p:cNvPr id="15381" name="Connector 15380"/>
          <p:cNvCxnSpPr/>
          <p:nvPr/>
        </p:nvCxnSpPr>
        <p:spPr>
          <a:xfrm>
            <a:off x="5440680" y="2916936"/>
            <a:ext cx="137160" cy="0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2" name="Connector 15381"/>
          <p:cNvCxnSpPr/>
          <p:nvPr/>
        </p:nvCxnSpPr>
        <p:spPr>
          <a:xfrm flipH="1">
            <a:off x="5440680" y="3968495"/>
            <a:ext cx="137160" cy="0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3" name="Connector 15382"/>
          <p:cNvCxnSpPr/>
          <p:nvPr/>
        </p:nvCxnSpPr>
        <p:spPr>
          <a:xfrm>
            <a:off x="6766560" y="2916936"/>
            <a:ext cx="137160" cy="0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4" name="Connector 15383"/>
          <p:cNvCxnSpPr/>
          <p:nvPr/>
        </p:nvCxnSpPr>
        <p:spPr>
          <a:xfrm flipH="1">
            <a:off x="6766560" y="3968495"/>
            <a:ext cx="137160" cy="0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5" name="Connector 15384"/>
          <p:cNvCxnSpPr/>
          <p:nvPr/>
        </p:nvCxnSpPr>
        <p:spPr>
          <a:xfrm>
            <a:off x="7498080" y="3200400"/>
            <a:ext cx="0" cy="484631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6" name="Connector 15385"/>
          <p:cNvCxnSpPr/>
          <p:nvPr/>
        </p:nvCxnSpPr>
        <p:spPr>
          <a:xfrm flipV="1">
            <a:off x="4846320" y="3200400"/>
            <a:ext cx="0" cy="484631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7" name="TextBox 15386"/>
          <p:cNvSpPr txBox="1"/>
          <p:nvPr/>
        </p:nvSpPr>
        <p:spPr>
          <a:xfrm>
            <a:off x="4206240" y="2176272"/>
            <a:ext cx="3931920" cy="402336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 u="none">
                <a:solidFill>
                  <a:srgbClr val="B71C1C"/>
                </a:solidFill>
                <a:latin typeface="Arial"/>
              </a:rPr>
              <a:t>▼ disturbances in: noise · jitter · fog/haze/rain · platform motion</a:t>
            </a:r>
          </a:p>
          <a:p>
            <a:pPr algn="l">
              <a:spcAft>
                <a:spcPts val="0"/>
              </a:spcAft>
            </a:pPr>
            <a:r>
              <a:rPr sz="900" b="0" i="0" u="none">
                <a:solidFill>
                  <a:srgbClr val="9A6700"/>
                </a:solidFill>
                <a:latin typeface="Arial"/>
              </a:rPr>
              <a:t>▼ or evaluator .mp4 video (Benchmark-2): PTZ bypassed</a:t>
            </a:r>
          </a:p>
        </p:txBody>
      </p:sp>
      <p:sp>
        <p:nvSpPr>
          <p:cNvPr id="15388" name="TextBox 15387"/>
          <p:cNvSpPr txBox="1"/>
          <p:nvPr/>
        </p:nvSpPr>
        <p:spPr>
          <a:xfrm>
            <a:off x="5532120" y="3273552"/>
            <a:ext cx="1280160" cy="384048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1" i="0" u="none">
                <a:solidFill>
                  <a:srgbClr val="1F497D"/>
                </a:solidFill>
                <a:latin typeface="Arial"/>
              </a:rPr>
              <a:t>SEARCH → TRACK →</a:t>
            </a:r>
          </a:p>
          <a:p>
            <a:pPr algn="ctr">
              <a:spcAft>
                <a:spcPts val="0"/>
              </a:spcAft>
            </a:pPr>
            <a:r>
              <a:rPr sz="850" b="1" i="0" u="none">
                <a:solidFill>
                  <a:srgbClr val="1F497D"/>
                </a:solidFill>
                <a:latin typeface="Arial"/>
              </a:rPr>
              <a:t>LOSS → RE-ACQUIRE</a:t>
            </a:r>
          </a:p>
        </p:txBody>
      </p:sp>
      <p:sp>
        <p:nvSpPr>
          <p:cNvPr id="15389" name="TextBox 15388"/>
          <p:cNvSpPr txBox="1"/>
          <p:nvPr/>
        </p:nvSpPr>
        <p:spPr>
          <a:xfrm>
            <a:off x="4206240" y="4352544"/>
            <a:ext cx="3931920" cy="27432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2E7D32"/>
                </a:solidFill>
                <a:latin typeface="Arial"/>
              </a:rPr>
              <a:t>Out: per-frame truth-based metrics → CSV · JSON · HTML report (auto)</a:t>
            </a:r>
          </a:p>
        </p:txBody>
      </p:sp>
      <p:sp>
        <p:nvSpPr>
          <p:cNvPr id="15390" name="Rounded Rectangle 15389"/>
          <p:cNvSpPr/>
          <p:nvPr/>
        </p:nvSpPr>
        <p:spPr>
          <a:xfrm>
            <a:off x="8366760" y="1810512"/>
            <a:ext cx="3474720" cy="2852928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391" name="Rounded Rectangle 15390"/>
          <p:cNvSpPr/>
          <p:nvPr/>
        </p:nvSpPr>
        <p:spPr>
          <a:xfrm>
            <a:off x="8458200" y="1883664"/>
            <a:ext cx="2080260" cy="237744"/>
          </a:xfrm>
          <a:prstGeom prst="roundRect">
            <a:avLst>
              <a:gd name="adj" fmla="val 3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>
            <a:noAutofit/>
          </a:bodyPr>
          <a:lstStyle/>
          <a:p>
            <a:pPr algn="ctr">
              <a:spcAft>
                <a:spcPts val="100"/>
              </a:spcAft>
            </a:pPr>
            <a:r>
              <a:rPr sz="1050" b="1" i="0" u="none">
                <a:solidFill>
                  <a:srgbClr val="FFFFFF"/>
                </a:solidFill>
                <a:latin typeface="Arial"/>
              </a:rPr>
              <a:t>Innovation and uniqueness</a:t>
            </a:r>
          </a:p>
        </p:txBody>
      </p:sp>
      <p:sp>
        <p:nvSpPr>
          <p:cNvPr id="15392" name="Oval 15391"/>
          <p:cNvSpPr/>
          <p:nvPr/>
        </p:nvSpPr>
        <p:spPr>
          <a:xfrm>
            <a:off x="8458200" y="2258568"/>
            <a:ext cx="310896" cy="310896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200" b="1" i="0" u="none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8823960" y="2203704"/>
            <a:ext cx="2944368" cy="82296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1200" b="1" i="0" u="none">
                <a:solidFill>
                  <a:srgbClr val="1F497D"/>
                </a:solidFill>
                <a:latin typeface="Arial"/>
              </a:rPr>
              <a:t>Belief-driven search</a:t>
            </a:r>
          </a:p>
          <a:p>
            <a:pPr algn="l">
              <a:spcAft>
                <a:spcPts val="100"/>
              </a:spcAft>
            </a:pPr>
            <a:r>
              <a:rPr sz="1050" b="0" i="0" u="none">
                <a:solidFill>
                  <a:srgbClr val="1A1A1A"/>
                </a:solidFill>
                <a:latin typeface="Arial"/>
              </a:rPr>
              <a:t>every empty frame is evidence: probability is removed where the beacon was not seen; next look = best P(detect) per second</a:t>
            </a:r>
          </a:p>
        </p:txBody>
      </p:sp>
      <p:sp>
        <p:nvSpPr>
          <p:cNvPr id="15394" name="Oval 15393"/>
          <p:cNvSpPr/>
          <p:nvPr/>
        </p:nvSpPr>
        <p:spPr>
          <a:xfrm>
            <a:off x="8458200" y="3063240"/>
            <a:ext cx="310896" cy="310896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200" b="1" i="0" u="none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395" name="TextBox 15394"/>
          <p:cNvSpPr txBox="1"/>
          <p:nvPr/>
        </p:nvSpPr>
        <p:spPr>
          <a:xfrm>
            <a:off x="8823960" y="3008376"/>
            <a:ext cx="2944368" cy="82296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1200" b="1" i="0" u="none">
                <a:solidFill>
                  <a:srgbClr val="1F497D"/>
                </a:solidFill>
                <a:latin typeface="Arial"/>
              </a:rPr>
              <a:t>Disturbance-aware FOV</a:t>
            </a:r>
          </a:p>
          <a:p>
            <a:pPr algn="l">
              <a:spcAft>
                <a:spcPts val="100"/>
              </a:spcAft>
            </a:pPr>
            <a:r>
              <a:rPr sz="1050" b="0" i="0" u="none">
                <a:solidFill>
                  <a:srgbClr val="1A1A1A"/>
                </a:solidFill>
                <a:latin typeface="Arial"/>
              </a:rPr>
              <a:t>FOV (1×/2×/3×) chosen by predicted detection probability from the measured noise: go wide only when the beacon stays detectable</a:t>
            </a:r>
          </a:p>
        </p:txBody>
      </p:sp>
      <p:sp>
        <p:nvSpPr>
          <p:cNvPr id="15396" name="Oval 15395"/>
          <p:cNvSpPr/>
          <p:nvPr/>
        </p:nvSpPr>
        <p:spPr>
          <a:xfrm>
            <a:off x="8458200" y="3867912"/>
            <a:ext cx="310896" cy="310896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200" b="1" i="0" u="none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397" name="TextBox 15396"/>
          <p:cNvSpPr txBox="1"/>
          <p:nvPr/>
        </p:nvSpPr>
        <p:spPr>
          <a:xfrm>
            <a:off x="8823960" y="3813048"/>
            <a:ext cx="2944368" cy="82296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1200" b="1" i="0" u="none">
                <a:solidFill>
                  <a:srgbClr val="1F497D"/>
                </a:solidFill>
                <a:latin typeface="Arial"/>
              </a:rPr>
              <a:t>One belief, whole lifecycle</a:t>
            </a:r>
          </a:p>
          <a:p>
            <a:pPr algn="l">
              <a:spcAft>
                <a:spcPts val="100"/>
              </a:spcAft>
            </a:pPr>
            <a:r>
              <a:rPr sz="1050" b="0" i="0" u="none">
                <a:solidFill>
                  <a:srgbClr val="1A1A1A"/>
                </a:solidFill>
                <a:latin typeface="Arial"/>
              </a:rPr>
              <a:t>on loss the search restarts from the tracker's prediction; jitter-aware estimator stops the gimbal chasing jitter</a:t>
            </a:r>
          </a:p>
        </p:txBody>
      </p:sp>
      <p:graphicFrame>
        <p:nvGraphicFramePr>
          <p:cNvPr id="15398" name="Table 15397"/>
          <p:cNvGraphicFramePr>
            <a:graphicFrameLocks noGrp="1"/>
          </p:cNvGraphicFramePr>
          <p:nvPr/>
        </p:nvGraphicFramePr>
        <p:xfrm>
          <a:off x="365760" y="4754879"/>
          <a:ext cx="11475720" cy="12435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337560"/>
                <a:gridCol w="4069080"/>
                <a:gridCol w="406908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FFFFFF"/>
                          </a:solidFill>
                          <a:latin typeface="Arial"/>
                        </a:rPr>
                        <a:t>Typical public approach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FFFFFF"/>
                          </a:solidFill>
                          <a:latin typeface="Arial"/>
                        </a:rPr>
                        <a:t>Limitation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FFFFFF"/>
                          </a:solidFill>
                          <a:latin typeface="Arial"/>
                        </a:rPr>
                        <a:t>ANVESHA approach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1A1A1A"/>
                          </a:solidFill>
                          <a:latin typeface="Arial"/>
                        </a:rPr>
                        <a:t>Fixed spiral / raster at base FOV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 u="none">
                          <a:solidFill>
                            <a:srgbClr val="1A1A1A"/>
                          </a:solidFill>
                          <a:latin typeface="Arial"/>
                        </a:rPr>
                        <a:t>Open loop; ignores empty frames; ~8–10 s worst case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1A1A1A"/>
                          </a:solidFill>
                          <a:latin typeface="Arial"/>
                        </a:rPr>
                        <a:t>Recursive Bayesian belief + next-best-look planner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DEEE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1A1A1A"/>
                          </a:solidFill>
                          <a:latin typeface="Arial"/>
                        </a:rPr>
                        <a:t>Wide-FOV mode switched by a fixed rule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 u="none">
                          <a:solidFill>
                            <a:srgbClr val="1A1A1A"/>
                          </a:solidFill>
                          <a:latin typeface="Arial"/>
                        </a:rPr>
                        <a:t>SNR loss of a wider FOV is not modelled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1A1A1A"/>
                          </a:solidFill>
                          <a:latin typeface="Arial"/>
                        </a:rPr>
                        <a:t>FOV picked from a measured-noise detection model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DEEE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1A1A1A"/>
                          </a:solidFill>
                          <a:latin typeface="Arial"/>
                        </a:rPr>
                        <a:t>Re-acquire = restart spiral / Kalman coast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 u="none">
                          <a:solidFill>
                            <a:srgbClr val="1A1A1A"/>
                          </a:solidFill>
                          <a:latin typeface="Arial"/>
                        </a:rPr>
                        <a:t>Throws away what the tracker knew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1A1A1A"/>
                          </a:solidFill>
                          <a:latin typeface="Arial"/>
                        </a:rPr>
                        <a:t>Belief re-seeded from IMM predicted mean &amp; covariance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DEEE3"/>
                    </a:solidFill>
                  </a:tcPr>
                </a:tc>
              </a:tr>
            </a:tbl>
          </a:graphicData>
        </a:graphic>
      </p:graphicFrame>
      <p:sp>
        <p:nvSpPr>
          <p:cNvPr id="15399" name="TextBox 15398"/>
          <p:cNvSpPr txBox="1"/>
          <p:nvPr/>
        </p:nvSpPr>
        <p:spPr>
          <a:xfrm>
            <a:off x="365760" y="6053328"/>
            <a:ext cx="11475720" cy="27432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1" u="none">
                <a:solidFill>
                  <a:srgbClr val="555B66"/>
                </a:solidFill>
                <a:latin typeface="Arial"/>
              </a:rPr>
              <a:t>Based on our review of 134 papers and 20 public SIH26169 repositories, we did not identify a coarse-PAT system that combines these three elements.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/>
            <a:r>
              <a:rPr sz="1050" b="1" i="0" u="none">
                <a:solidFill>
                  <a:srgbClr val="1F497D"/>
                </a:solidFill>
                <a:latin typeface="Arial"/>
              </a:rPr>
              <a:t>Regnum Carya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987552"/>
            <a:ext cx="768096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marL="219456" indent="-219456">
              <a:buFont typeface="Wingdings" pitchFamily="2" charset="2"/>
              <a:buChar char="v"/>
            </a:pPr>
            <a:r>
              <a:rPr sz="1350" b="1" i="0" u="sng">
                <a:solidFill>
                  <a:srgbClr val="1F497D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0040" y="1371600"/>
            <a:ext cx="7726679" cy="1261872"/>
          </a:xfrm>
          <a:prstGeom prst="roundRect">
            <a:avLst>
              <a:gd name="adj" fmla="val 5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38912" y="1399032"/>
            <a:ext cx="7315200" cy="256032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i="0" u="none">
                <a:solidFill>
                  <a:srgbClr val="1F497D"/>
                </a:solidFill>
                <a:latin typeface="Arial"/>
              </a:rPr>
              <a:t>SIMULATION  ·  240 Hz physics  ·  every run = scenario YAML + seed (fully reproducible)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65760" y="1700784"/>
            <a:ext cx="137160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Virtual FPA camera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640×480 · 30 Hz
FOV 1×/2×/3× of 4°×3°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629400" y="1700784"/>
            <a:ext cx="137160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Gimbal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5 °/s rate limit
lag · latency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2029967" y="1700784"/>
            <a:ext cx="96012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8C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Beacon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7 trajectories
5–20 px spot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081528" y="1700784"/>
            <a:ext cx="10972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8C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Platform + IMU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linear · circular
random · vibration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270248" y="1700784"/>
            <a:ext cx="2231136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8C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Disturbances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Gauss · Poisson · S&amp;P · jitter
haze · fog · rain · low light
turbulence</a:t>
            </a:r>
          </a:p>
        </p:txBody>
      </p:sp>
      <p:cxnSp>
        <p:nvCxnSpPr>
          <p:cNvPr id="17418" name="Connector 17417"/>
          <p:cNvCxnSpPr/>
          <p:nvPr/>
        </p:nvCxnSpPr>
        <p:spPr>
          <a:xfrm flipH="1">
            <a:off x="1737360" y="2121408"/>
            <a:ext cx="292607" cy="0"/>
          </a:xfrm>
          <a:prstGeom prst="line">
            <a:avLst/>
          </a:prstGeom>
          <a:ln w="2222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Rounded Rectangle 17418"/>
          <p:cNvSpPr/>
          <p:nvPr/>
        </p:nvSpPr>
        <p:spPr>
          <a:xfrm>
            <a:off x="365760" y="2907792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 u="none">
                <a:solidFill>
                  <a:srgbClr val="FFFFFF"/>
                </a:solidFill>
                <a:latin typeface="Arial"/>
              </a:rPr>
              <a:t>PERCEPTION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FFFFFF"/>
                </a:solidFill>
                <a:latin typeface="Arial"/>
              </a:rPr>
              <a:t>noise-adaptive prefilter
matched filter → CFAR
IW-CoG · CNN verifier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1931669" y="2907792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 u="none">
                <a:solidFill>
                  <a:srgbClr val="FFFFFF"/>
                </a:solidFill>
                <a:latin typeface="Arial"/>
              </a:rPr>
              <a:t>ASSOCIATION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FFFFFF"/>
                </a:solidFill>
                <a:latin typeface="Arial"/>
              </a:rPr>
              <a:t>Mahalanobis gate
shape · verifier
re-anchor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3497579" y="2907792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 u="none">
                <a:solidFill>
                  <a:srgbClr val="FFFFFF"/>
                </a:solidFill>
                <a:latin typeface="Arial"/>
              </a:rPr>
              <a:t>ESTIMATION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FFFFFF"/>
                </a:solidFill>
                <a:latin typeface="Arial"/>
              </a:rPr>
              <a:t>IMM (CV/CA/MNV)
jitter-aware R
IMU input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5063490" y="2907792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 u="none">
                <a:solidFill>
                  <a:srgbClr val="FFFFFF"/>
                </a:solidFill>
                <a:latin typeface="Arial"/>
              </a:rPr>
              <a:t>SUPERVISOR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FFFFFF"/>
                </a:solidFill>
                <a:latin typeface="Arial"/>
              </a:rPr>
              <a:t>SEARCH → ACQUIRE
→ TRACK → COAST
→ RE-ACQUIRE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629400" y="2907792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 u="none">
                <a:solidFill>
                  <a:srgbClr val="FFFFFF"/>
                </a:solidFill>
                <a:latin typeface="Arial"/>
              </a:rPr>
              <a:t>CONTROL · 60 Hz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FFFFFF"/>
                </a:solidFill>
                <a:latin typeface="Arial"/>
              </a:rPr>
              <a:t>predictive: target +
IMU feed-forward
latency comp.</a:t>
            </a:r>
          </a:p>
        </p:txBody>
      </p:sp>
      <p:cxnSp>
        <p:nvCxnSpPr>
          <p:cNvPr id="17424" name="Connector 17423"/>
          <p:cNvCxnSpPr/>
          <p:nvPr/>
        </p:nvCxnSpPr>
        <p:spPr>
          <a:xfrm>
            <a:off x="1737360" y="3364992"/>
            <a:ext cx="194309" cy="0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5" name="Connector 17424"/>
          <p:cNvCxnSpPr/>
          <p:nvPr/>
        </p:nvCxnSpPr>
        <p:spPr>
          <a:xfrm>
            <a:off x="3303270" y="3364992"/>
            <a:ext cx="194309" cy="0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6" name="Connector 17425"/>
          <p:cNvCxnSpPr/>
          <p:nvPr/>
        </p:nvCxnSpPr>
        <p:spPr>
          <a:xfrm>
            <a:off x="4869179" y="3364992"/>
            <a:ext cx="194311" cy="0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7" name="Connector 17426"/>
          <p:cNvCxnSpPr/>
          <p:nvPr/>
        </p:nvCxnSpPr>
        <p:spPr>
          <a:xfrm>
            <a:off x="6435090" y="3364992"/>
            <a:ext cx="194310" cy="0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8" name="Connector 17427"/>
          <p:cNvCxnSpPr/>
          <p:nvPr/>
        </p:nvCxnSpPr>
        <p:spPr>
          <a:xfrm>
            <a:off x="1051560" y="2542032"/>
            <a:ext cx="0" cy="365760"/>
          </a:xfrm>
          <a:prstGeom prst="line">
            <a:avLst/>
          </a:prstGeom>
          <a:ln w="2222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9" name="Connector 17428"/>
          <p:cNvCxnSpPr/>
          <p:nvPr/>
        </p:nvCxnSpPr>
        <p:spPr>
          <a:xfrm flipV="1">
            <a:off x="7315200" y="2542032"/>
            <a:ext cx="0" cy="365760"/>
          </a:xfrm>
          <a:prstGeom prst="line">
            <a:avLst/>
          </a:prstGeom>
          <a:ln w="2222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0" name="TextBox 17429"/>
          <p:cNvSpPr txBox="1"/>
          <p:nvPr/>
        </p:nvSpPr>
        <p:spPr>
          <a:xfrm>
            <a:off x="1106424" y="2624328"/>
            <a:ext cx="1371600" cy="237744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 u="none">
                <a:solidFill>
                  <a:srgbClr val="0070C0"/>
                </a:solidFill>
                <a:latin typeface="Arial"/>
              </a:rPr>
              <a:t>frames @30 Hz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7370064" y="2624328"/>
            <a:ext cx="914400" cy="237744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 u="none">
                <a:solidFill>
                  <a:srgbClr val="0070C0"/>
                </a:solidFill>
                <a:latin typeface="Arial"/>
              </a:rPr>
              <a:t>rate cmd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365760" y="4005072"/>
            <a:ext cx="2937510" cy="713232"/>
          </a:xfrm>
          <a:prstGeom prst="roundRect">
            <a:avLst>
              <a:gd name="adj" fmla="val 12000"/>
            </a:avLst>
          </a:prstGeom>
          <a:solidFill>
            <a:srgbClr val="FFF4D6"/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 u="none">
                <a:solidFill>
                  <a:srgbClr val="9A6700"/>
                </a:solidFill>
                <a:latin typeface="Arial"/>
              </a:rPr>
              <a:t>Benchmark-2 video mode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1A1A1A"/>
                </a:solidFill>
                <a:latin typeface="Arial"/>
              </a:rPr>
              <a:t>.mp4 (30 fps, full screen) → same perception + estimator; PTZ bypassed</a:t>
            </a:r>
          </a:p>
        </p:txBody>
      </p:sp>
      <p:cxnSp>
        <p:nvCxnSpPr>
          <p:cNvPr id="17433" name="Connector 17432"/>
          <p:cNvCxnSpPr/>
          <p:nvPr/>
        </p:nvCxnSpPr>
        <p:spPr>
          <a:xfrm flipV="1">
            <a:off x="1051560" y="3822191"/>
            <a:ext cx="0" cy="182881"/>
          </a:xfrm>
          <a:prstGeom prst="line">
            <a:avLst/>
          </a:prstGeom>
          <a:ln w="22225">
            <a:solidFill>
              <a:srgbClr val="9A67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4" name="Rounded Rectangle 17433"/>
          <p:cNvSpPr/>
          <p:nvPr/>
        </p:nvSpPr>
        <p:spPr>
          <a:xfrm>
            <a:off x="3497579" y="4005072"/>
            <a:ext cx="4503420" cy="713232"/>
          </a:xfrm>
          <a:prstGeom prst="roundRect">
            <a:avLst>
              <a:gd name="adj" fmla="val 12000"/>
            </a:avLst>
          </a:prstGeom>
          <a:solidFill>
            <a:srgbClr val="FDEEE3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 u="none">
                <a:solidFill>
                  <a:srgbClr val="C55A11"/>
                </a:solidFill>
                <a:latin typeface="Arial"/>
              </a:rPr>
              <a:t>SEARCH · belief map (core contribution)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1A1A1A"/>
                </a:solidFill>
                <a:latin typeface="Arial"/>
              </a:rPr>
              <a:t>Bayes miss-update + motion diffusion every frame; next look = argmax Pd(FOV | measured noise) · mass / time; re-seeded from IMM prediction on loss</a:t>
            </a:r>
          </a:p>
        </p:txBody>
      </p:sp>
      <p:cxnSp>
        <p:nvCxnSpPr>
          <p:cNvPr id="17435" name="Connector 17434"/>
          <p:cNvCxnSpPr/>
          <p:nvPr/>
        </p:nvCxnSpPr>
        <p:spPr>
          <a:xfrm>
            <a:off x="5749290" y="3822191"/>
            <a:ext cx="0" cy="182881"/>
          </a:xfrm>
          <a:prstGeom prst="line">
            <a:avLst/>
          </a:prstGeom>
          <a:ln w="22225">
            <a:solidFill>
              <a:srgbClr val="C55A1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6" name="Rounded Rectangle 17435"/>
          <p:cNvSpPr/>
          <p:nvPr/>
        </p:nvSpPr>
        <p:spPr>
          <a:xfrm>
            <a:off x="365760" y="4873752"/>
            <a:ext cx="3749039" cy="566928"/>
          </a:xfrm>
          <a:prstGeom prst="roundRect">
            <a:avLst>
              <a:gd name="adj" fmla="val 12000"/>
            </a:avLst>
          </a:prstGeom>
          <a:solidFill>
            <a:srgbClr val="E6F3E7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 u="none">
                <a:solidFill>
                  <a:srgbClr val="2E7D32"/>
                </a:solidFill>
                <a:latin typeface="Arial"/>
              </a:rPr>
              <a:t>METRICS (ground truth only, every frame)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1A1A1A"/>
                </a:solidFill>
                <a:latin typeface="Arial"/>
              </a:rPr>
              <a:t>per-frame CSV · JSON summary · HTML report: FPS, acquisition, error, lock retention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4251960" y="4873752"/>
            <a:ext cx="3749039" cy="566928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TELEMETRY → WebSocket → mission-control GUI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1A1A1A"/>
                </a:solidFill>
                <a:latin typeface="Arial"/>
              </a:rPr>
              <a:t>camera · 2D/3D world + belief · telemetry · charts · events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365760" y="5504688"/>
            <a:ext cx="7635240" cy="77724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 u="none">
                <a:solidFill>
                  <a:srgbClr val="1A1A1A"/>
                </a:solidFill>
                <a:latin typeface="Arial"/>
              </a:rPr>
              <a:t>Multi-rate loop: 240 Hz physics · 60 Hz control · 30 Hz camera + perception.  </a:t>
            </a:r>
            <a:r>
              <a:rPr sz="850" b="0" i="0" u="none">
                <a:solidFill>
                  <a:srgbClr val="555B66"/>
                </a:solidFill>
                <a:latin typeface="Arial"/>
              </a:rPr>
              <a:t>Prior art we build on, not claimed as novel: MF-CFAR, IMM, CNN verifier, IMU feed-forward, predictive control.</a:t>
            </a:r>
          </a:p>
          <a:p>
            <a:pPr algn="l">
              <a:spcAft>
                <a:spcPts val="0"/>
              </a:spcAft>
            </a:pPr>
            <a:r>
              <a:rPr sz="800" b="0" i="1" u="none">
                <a:solidFill>
                  <a:srgbClr val="555B66"/>
                </a:solidFill>
                <a:latin typeface="Arial"/>
              </a:rPr>
              <a:t>LOS = line of sight · MF-CFAR = matched filter + constant-false-alarm-rate threshold · IW-CoG = intensity-weighted centroid · IMM = interacting multiple model (CV / CA / manoeuvre) · R = measurement-noise covariance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8229600" y="1005840"/>
            <a:ext cx="3611880" cy="27432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 u="none">
                <a:solidFill>
                  <a:srgbClr val="1F497D"/>
                </a:solidFill>
                <a:latin typeface="Arial"/>
              </a:rPr>
              <a:t>Working prototype (live GUI)</a:t>
            </a:r>
          </a:p>
        </p:txBody>
      </p:sp>
      <p:pic>
        <p:nvPicPr>
          <p:cNvPr id="17440" name="Picture 17439" descr="gui_tr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298448"/>
            <a:ext cx="3611880" cy="2329663"/>
          </a:xfrm>
          <a:prstGeom prst="rect">
            <a:avLst/>
          </a:prstGeom>
          <a:ln w="9525">
            <a:solidFill>
              <a:srgbClr val="B8C4D3"/>
            </a:solidFill>
          </a:ln>
        </p:spPr>
      </p:pic>
      <p:sp>
        <p:nvSpPr>
          <p:cNvPr id="17441" name="TextBox 17440"/>
          <p:cNvSpPr txBox="1"/>
          <p:nvPr/>
        </p:nvSpPr>
        <p:spPr>
          <a:xfrm>
            <a:off x="8229600" y="3646398"/>
            <a:ext cx="3611880" cy="256032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0" i="1" u="none">
                <a:solidFill>
                  <a:srgbClr val="555B66"/>
                </a:solidFill>
                <a:latin typeface="Arial"/>
              </a:rPr>
              <a:t>Scenario M_combined (haze + S&amp;P + jitter + platform), TRACK mode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8229600" y="3959352"/>
            <a:ext cx="361188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marL="219456" indent="-219456">
              <a:buFont typeface="Wingdings" pitchFamily="2" charset="2"/>
              <a:buChar char="v"/>
            </a:pPr>
            <a:r>
              <a:rPr sz="1350" b="1" i="0" u="sng">
                <a:solidFill>
                  <a:srgbClr val="1F497D"/>
                </a:solidFill>
                <a:latin typeface="Arial"/>
              </a:rPr>
              <a:t>Technologies to be used</a:t>
            </a:r>
          </a:p>
        </p:txBody>
      </p:sp>
      <p:graphicFrame>
        <p:nvGraphicFramePr>
          <p:cNvPr id="17443" name="Table 17442"/>
          <p:cNvGraphicFramePr>
            <a:graphicFrameLocks noGrp="1"/>
          </p:cNvGraphicFramePr>
          <p:nvPr/>
        </p:nvGraphicFramePr>
        <p:xfrm>
          <a:off x="8229600" y="4297680"/>
          <a:ext cx="3611880" cy="18105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83080"/>
                <a:gridCol w="1828800"/>
              </a:tblGrid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FFFFFF"/>
                          </a:solidFill>
                          <a:latin typeface="Arial"/>
                        </a:rPr>
                        <a:t>Technology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FFFFFF"/>
                          </a:solidFill>
                          <a:latin typeface="Arial"/>
                        </a:rPr>
                        <a:t>Why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1A1A1A"/>
                          </a:solidFill>
                          <a:latin typeface="Arial"/>
                        </a:rPr>
                        <a:t>Python 3.11 · NumPy · SciPy · OpenCV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 u="none">
                          <a:solidFill>
                            <a:srgbClr val="1A1A1A"/>
                          </a:solidFill>
                          <a:latin typeface="Arial"/>
                        </a:rPr>
                        <a:t>vectorised ROI processing on a CPU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1A1A1A"/>
                          </a:solidFill>
                          <a:latin typeface="Arial"/>
                        </a:rPr>
                        <a:t>PyTorch → ONNX Runtime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 u="none">
                          <a:solidFill>
                            <a:srgbClr val="1A1A1A"/>
                          </a:solidFill>
                          <a:latin typeface="Arial"/>
                        </a:rPr>
                        <a:t>6.8 k-param CNN verifier, CPU inference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4F6F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1A1A1A"/>
                          </a:solidFill>
                          <a:latin typeface="Arial"/>
                        </a:rPr>
                        <a:t>FastAPI + WebSocket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 u="none">
                          <a:solidFill>
                            <a:srgbClr val="1A1A1A"/>
                          </a:solidFill>
                          <a:latin typeface="Arial"/>
                        </a:rPr>
                        <a:t>one engine feeds GUI, bench &amp; reports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1A1A1A"/>
                          </a:solidFill>
                          <a:latin typeface="Arial"/>
                        </a:rPr>
                        <a:t>HTML/JS + three.js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 u="none">
                          <a:solidFill>
                            <a:srgbClr val="1A1A1A"/>
                          </a:solidFill>
                          <a:latin typeface="Arial"/>
                        </a:rPr>
                        <a:t>2D/3D mission-control view, no build step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4F6F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1A1A1A"/>
                          </a:solidFill>
                          <a:latin typeface="Arial"/>
                        </a:rPr>
                        <a:t>PyInstaller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 u="none">
                          <a:solidFill>
                            <a:srgbClr val="1A1A1A"/>
                          </a:solidFill>
                          <a:latin typeface="Arial"/>
                        </a:rPr>
                        <a:t>standalone Windows .exe (planned)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/>
            <a:r>
              <a:rPr sz="1050" b="1" i="0" u="none">
                <a:solidFill>
                  <a:srgbClr val="1F497D"/>
                </a:solidFill>
                <a:latin typeface="Arial"/>
              </a:rPr>
              <a:t>Regnum Carya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987552"/>
            <a:ext cx="813816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marL="219456" indent="-219456">
              <a:buFont typeface="Wingdings" pitchFamily="2" charset="2"/>
              <a:buChar char="v"/>
            </a:pPr>
            <a:r>
              <a:rPr sz="1500" b="1" i="0" u="sng">
                <a:solidFill>
                  <a:srgbClr val="1F497D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365760" y="1298448"/>
            <a:ext cx="8321040" cy="237744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0" i="1" u="none">
                <a:solidFill>
                  <a:srgbClr val="555B66"/>
                </a:solidFill>
                <a:latin typeface="Arial"/>
              </a:rPr>
              <a:t>Measured in simulation (software-in-the-loop), 3 seeds · 16 scenarios · same seeds for all pipelines · baseline PID gains grid-tuned · CPU only (2 cores)</a:t>
            </a:r>
          </a:p>
        </p:txBody>
      </p:sp>
      <p:graphicFrame>
        <p:nvGraphicFramePr>
          <p:cNvPr id="17412" name="Table 17411"/>
          <p:cNvGraphicFramePr>
            <a:graphicFrameLocks noGrp="1"/>
          </p:cNvGraphicFramePr>
          <p:nvPr/>
        </p:nvGraphicFramePr>
        <p:xfrm>
          <a:off x="365760" y="1554480"/>
          <a:ext cx="5440680" cy="31089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72768"/>
                <a:gridCol w="804672"/>
                <a:gridCol w="566928"/>
                <a:gridCol w="658368"/>
                <a:gridCol w="548640"/>
                <a:gridCol w="667512"/>
                <a:gridCol w="621792"/>
              </a:tblGrid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ANVESHA · scenario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Acq. ≤2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LOS err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Image err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Loss*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Re-acq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Loop FPS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A  Clean sky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1.3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B  Gaussian σ=20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1.2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1.9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1.9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C  Poisson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1.1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0.8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0.8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D  Salt &amp; pepper 10 %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1.1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6.7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6.7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E  Jitter ±10 px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1.3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4.6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8.9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F  Platform linear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1.1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4.4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4.4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F2 Vibration 7/13 Hz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2/3 · 1.4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20.5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20.5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G  Fog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1.3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H  Haze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1.2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I  Low light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1.2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2.2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2.2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J  Fast manoeuvre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1.3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18.6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18.6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K  Occlusion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1.3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16.2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16.2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0.10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L  Rain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1.4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1.9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1.9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M  Combined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1.2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4.9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7.8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N  All PS maxima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1/3 · 1.0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28.2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30.6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83 %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1.86 s (1✗)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O  Look-alike distractors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1/3 · 2.9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</a:tbl>
          </a:graphicData>
        </a:graphic>
      </p:graphicFrame>
      <p:sp>
        <p:nvSpPr>
          <p:cNvPr id="17413" name="TextBox 17412"/>
          <p:cNvSpPr txBox="1"/>
          <p:nvPr/>
        </p:nvSpPr>
        <p:spPr>
          <a:xfrm>
            <a:off x="365760" y="4754880"/>
            <a:ext cx="5440680" cy="384048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All PS checks met: </a:t>
            </a:r>
            <a:r>
              <a:rPr sz="950" b="1" i="0" u="none">
                <a:solidFill>
                  <a:srgbClr val="0070C0"/>
                </a:solidFill>
                <a:latin typeface="Arial"/>
              </a:rPr>
              <a:t>ANVESHA 11/16 scenarios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  ·  baselines A/B/C 0/0/0</a:t>
            </a:r>
          </a:p>
          <a:p>
            <a:pPr algn="l">
              <a:spcAft>
                <a:spcPts val="0"/>
              </a:spcAft>
            </a:pPr>
            <a:r>
              <a:rPr sz="750" b="0" i="0" u="none">
                <a:solidFill>
                  <a:srgbClr val="555B66"/>
                </a:solidFill>
                <a:latin typeface="Arial"/>
              </a:rPr>
              <a:t>Limits: acq ≤ 2 s · error ≤ 10 px · loss &lt; 5 % · re-acq ≤ 1 s · ≥ 20 FPS. *excl. scripted occlusion · LOS = excl. camera jitter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989320" y="1536192"/>
            <a:ext cx="2606040" cy="256032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Same seeds, all pipelines</a:t>
            </a:r>
          </a:p>
        </p:txBody>
      </p:sp>
      <p:pic>
        <p:nvPicPr>
          <p:cNvPr id="17415" name="Picture 17414" descr="acq_le2s_by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01368"/>
            <a:ext cx="2606040" cy="1459382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5989320" y="3474720"/>
            <a:ext cx="2606040" cy="36576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Median acquisition when acquired: </a:t>
            </a:r>
            <a:r>
              <a:rPr sz="850" b="1" i="0" u="none">
                <a:solidFill>
                  <a:srgbClr val="0070C0"/>
                </a:solidFill>
                <a:latin typeface="Arial"/>
              </a:rPr>
              <a:t>ANVESHA 1.3 s</a:t>
            </a:r>
            <a:r>
              <a:rPr sz="850" b="0" i="0" u="none">
                <a:solidFill>
                  <a:srgbClr val="555B66"/>
                </a:solidFill>
                <a:latin typeface="Arial"/>
              </a:rPr>
              <a:t> · baselines 2.2–9.2 s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5989320" y="3931920"/>
            <a:ext cx="2606040" cy="457200"/>
          </a:xfrm>
          <a:prstGeom prst="roundRect">
            <a:avLst>
              <a:gd name="adj" fmla="val 8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100"/>
              </a:spcAft>
            </a:pPr>
            <a:r>
              <a:rPr sz="850" b="1" i="0" u="none">
                <a:solidFill>
                  <a:srgbClr val="1F497D"/>
                </a:solidFill>
                <a:latin typeface="Arial"/>
              </a:rPr>
              <a:t>Re-acquisition (K, 2 occlusions): </a:t>
            </a:r>
            <a:r>
              <a:rPr sz="850" b="0" i="0" u="none">
                <a:solidFill>
                  <a:srgbClr val="1A1A1A"/>
                </a:solidFill>
                <a:latin typeface="Arial"/>
              </a:rPr>
              <a:t>mean 0.10 s, max 0.27 s, 0 of 6 unrecovered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989320" y="4443983"/>
            <a:ext cx="2606040" cy="45720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100"/>
              </a:spcAft>
            </a:pPr>
            <a:r>
              <a:rPr sz="850" b="1" i="0" u="none">
                <a:solidFill>
                  <a:srgbClr val="9A6700"/>
                </a:solidFill>
                <a:latin typeface="Arial"/>
              </a:rPr>
              <a:t>Benchmark-2 video rehearsal: </a:t>
            </a:r>
            <a:r>
              <a:rPr sz="850" b="0" i="0" u="none">
                <a:solidFill>
                  <a:srgbClr val="1A1A1A"/>
                </a:solidFill>
                <a:latin typeface="Arial"/>
              </a:rPr>
              <a:t>centroid RMSE 0.14 px over 180 frames of 2000×2000 @30 fps; 29 FPS incl. decoding</a:t>
            </a:r>
          </a:p>
        </p:txBody>
      </p:sp>
      <p:graphicFrame>
        <p:nvGraphicFramePr>
          <p:cNvPr id="17419" name="Table 17418"/>
          <p:cNvGraphicFramePr>
            <a:graphicFrameLocks noGrp="1"/>
          </p:cNvGraphicFramePr>
          <p:nvPr/>
        </p:nvGraphicFramePr>
        <p:xfrm>
          <a:off x="8778240" y="1188720"/>
          <a:ext cx="3063240" cy="35112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60120"/>
                <a:gridCol w="2103120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Potential challenges and risks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Strategies for overcoming these challenges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Sim-to-real gap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video mode already accepts real footage; tracker needs only frames, encoder / IMU and rate commands → HIL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±20 px jitter floor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report LOS vs image error; jitter-aware R; fine stage (FSM) hand-off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Fog / rain / look-alikes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measured failures (below) drive next work: detection threshold &amp; identity cues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CPU budget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ROI processing; CNN only on candidate patches; FPS logged each frame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CNN domain shift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CNN only verifies; classical MF-CFAR stays primary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20" name="Rounded Rectangle 17419"/>
          <p:cNvSpPr/>
          <p:nvPr/>
        </p:nvSpPr>
        <p:spPr>
          <a:xfrm>
            <a:off x="365760" y="5175504"/>
            <a:ext cx="5440680" cy="1106424"/>
          </a:xfrm>
          <a:prstGeom prst="roundRect">
            <a:avLst>
              <a:gd name="adj" fmla="val 5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438912" y="5230368"/>
            <a:ext cx="2448893" cy="237744"/>
          </a:xfrm>
          <a:prstGeom prst="roundRect">
            <a:avLst>
              <a:gd name="adj" fmla="val 30000"/>
            </a:avLst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>
            <a:noAutofit/>
          </a:bodyPr>
          <a:lstStyle/>
          <a:p>
            <a:pPr algn="ctr">
              <a:spcAft>
                <a:spcPts val="10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Measured gaps — shown, not hidden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38912" y="5477256"/>
            <a:ext cx="5330952" cy="804672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 marL="118872" indent="-118872">
              <a:spcAft>
                <a:spcPts val="0"/>
              </a:spcAft>
              <a:buFont typeface="Arial"/>
              <a:buChar char="•"/>
            </a:pPr>
            <a:r>
              <a:rPr sz="850" b="1" i="0" u="none">
                <a:solidFill>
                  <a:srgbClr val="1A1A1A"/>
                </a:solidFill>
                <a:latin typeface="Arial"/>
              </a:rPr>
              <a:t>Fog / rain / look-alikes / all-maxima: </a:t>
            </a:r>
            <a:r>
              <a:rPr sz="850" b="0" i="0" u="none">
                <a:solidFill>
                  <a:srgbClr val="1A1A1A"/>
                </a:solidFill>
                <a:latin typeface="Arial"/>
              </a:rPr>
              <a:t>acquired in 100 / 100 / 100 / 33 % of runs — weak beacon below threshold; false locks on streaks &amp; look-alikes.</a:t>
            </a:r>
          </a:p>
          <a:p>
            <a:pPr algn="l" marL="118872" indent="-118872">
              <a:spcAft>
                <a:spcPts val="0"/>
              </a:spcAft>
              <a:buFont typeface="Arial"/>
              <a:buChar char="•"/>
            </a:pPr>
            <a:r>
              <a:rPr sz="850" b="1" i="0" u="none">
                <a:solidFill>
                  <a:srgbClr val="1A1A1A"/>
                </a:solidFill>
                <a:latin typeface="Arial"/>
              </a:rPr>
              <a:t>LOS error </a:t>
            </a:r>
            <a:r>
              <a:rPr sz="850" b="0" i="0" u="none">
                <a:solidFill>
                  <a:srgbClr val="1A1A1A"/>
                </a:solidFill>
                <a:latin typeface="Arial"/>
              </a:rPr>
              <a:t>16–21 px (&gt; 10) under vibration, fast manoeuvre, occlusion.</a:t>
            </a:r>
          </a:p>
          <a:p>
            <a:pPr algn="l" marL="118872" indent="-118872">
              <a:spcAft>
                <a:spcPts val="0"/>
              </a:spcAft>
              <a:buFont typeface="Arial"/>
              <a:buChar char="•"/>
            </a:pPr>
            <a:r>
              <a:rPr sz="850" b="1" i="0" u="none">
                <a:solidFill>
                  <a:srgbClr val="1A1A1A"/>
                </a:solidFill>
                <a:latin typeface="Arial"/>
              </a:rPr>
              <a:t>Jitter floor: </a:t>
            </a:r>
            <a:r>
              <a:rPr sz="850" b="0" i="0" u="none">
                <a:solidFill>
                  <a:srgbClr val="1A1A1A"/>
                </a:solidFill>
                <a:latin typeface="Arial"/>
              </a:rPr>
              <a:t>±20 px white jitter alone = 16.3 px RMS (analytic) — no coarse gimbal can meet 10 px image error. At ±10 px (E): image 8.9 vs LOS 4.6 px.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8778240" y="5065776"/>
            <a:ext cx="3063240" cy="237744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i="0" u="none">
                <a:solidFill>
                  <a:srgbClr val="1F497D"/>
                </a:solidFill>
                <a:latin typeface="Arial"/>
              </a:rPr>
              <a:t>Implementation status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8778240" y="5321807"/>
            <a:ext cx="896112" cy="246888"/>
          </a:xfrm>
          <a:prstGeom prst="roundRect">
            <a:avLst>
              <a:gd name="adj" fmla="val 30000"/>
            </a:avLst>
          </a:prstGeom>
          <a:solidFill>
            <a:srgbClr val="E6F3E7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5486" bIns="5486">
            <a:noAutofit/>
          </a:bodyPr>
          <a:lstStyle/>
          <a:p>
            <a:pPr algn="ctr">
              <a:spcAft>
                <a:spcPts val="100"/>
              </a:spcAft>
            </a:pPr>
            <a:r>
              <a:rPr sz="850" b="1" i="0" u="none">
                <a:solidFill>
                  <a:srgbClr val="2E7D32"/>
                </a:solidFill>
                <a:latin typeface="Arial"/>
              </a:rPr>
              <a:t>Implemented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9720072" y="5276088"/>
            <a:ext cx="2121408" cy="347472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 u="none">
                <a:solidFill>
                  <a:srgbClr val="1A1A1A"/>
                </a:solidFill>
                <a:latin typeface="Arial"/>
              </a:rPr>
              <a:t>sim, 16 scenarios, 4 pipelines, belief search, IMM, GUI, video mode, reports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8778240" y="5614416"/>
            <a:ext cx="896112" cy="246888"/>
          </a:xfrm>
          <a:prstGeom prst="roundRect">
            <a:avLst>
              <a:gd name="adj" fmla="val 30000"/>
            </a:avLst>
          </a:prstGeom>
          <a:solidFill>
            <a:srgbClr val="FFF4D6"/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5486" bIns="5486">
            <a:noAutofit/>
          </a:bodyPr>
          <a:lstStyle/>
          <a:p>
            <a:pPr algn="ctr">
              <a:spcAft>
                <a:spcPts val="100"/>
              </a:spcAft>
            </a:pPr>
            <a:r>
              <a:rPr sz="850" b="1" i="0" u="none">
                <a:solidFill>
                  <a:srgbClr val="9A6700"/>
                </a:solidFill>
                <a:latin typeface="Arial"/>
              </a:rPr>
              <a:t>Prototype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9720072" y="5568696"/>
            <a:ext cx="2121408" cy="347472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 u="none">
                <a:solidFill>
                  <a:srgbClr val="1A1A1A"/>
                </a:solidFill>
                <a:latin typeface="Arial"/>
              </a:rPr>
              <a:t>CNN verifier: recall 90 %, FPR 23 % on held-out synthetic patches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8778240" y="5907024"/>
            <a:ext cx="896112" cy="246888"/>
          </a:xfrm>
          <a:prstGeom prst="roundRect">
            <a:avLst>
              <a:gd name="adj" fmla="val 30000"/>
            </a:avLst>
          </a:prstGeom>
          <a:solidFill>
            <a:srgbClr val="F4F6F9"/>
          </a:solidFill>
          <a:ln w="12700">
            <a:solidFill>
              <a:srgbClr val="555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5486" bIns="5486">
            <a:noAutofit/>
          </a:bodyPr>
          <a:lstStyle/>
          <a:p>
            <a:pPr algn="ctr">
              <a:spcAft>
                <a:spcPts val="100"/>
              </a:spcAft>
            </a:pPr>
            <a:r>
              <a:rPr sz="850" b="1" i="0" u="none">
                <a:solidFill>
                  <a:srgbClr val="555B66"/>
                </a:solidFill>
                <a:latin typeface="Arial"/>
              </a:rPr>
              <a:t>Planned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9720072" y="5861304"/>
            <a:ext cx="2121408" cy="347472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 u="none">
                <a:solidFill>
                  <a:srgbClr val="1A1A1A"/>
                </a:solidFill>
                <a:latin typeface="Arial"/>
              </a:rPr>
              <a:t>.exe build · HIL rig · real footage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/>
            <a:r>
              <a:rPr sz="1050" b="1" i="0" u="none">
                <a:solidFill>
                  <a:srgbClr val="1F497D"/>
                </a:solidFill>
                <a:latin typeface="Arial"/>
              </a:rPr>
              <a:t>Regnum Carya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987552"/>
            <a:ext cx="566928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marL="219456" indent="-219456">
              <a:buFont typeface="Wingdings" pitchFamily="2" charset="2"/>
              <a:buChar char="v"/>
            </a:pPr>
            <a:r>
              <a:rPr sz="1500" b="1" i="0" u="sng">
                <a:solidFill>
                  <a:srgbClr val="1F497D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389888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12" name="Oval 17411"/>
          <p:cNvSpPr/>
          <p:nvPr/>
        </p:nvSpPr>
        <p:spPr>
          <a:xfrm>
            <a:off x="502920" y="1591056"/>
            <a:ext cx="512064" cy="51206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600" b="1" i="0" u="none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1143000" y="1444752"/>
            <a:ext cx="4800600" cy="822960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300" b="1" i="0" u="none">
                <a:solidFill>
                  <a:srgbClr val="1F497D"/>
                </a:solidFill>
                <a:latin typeface="Arial"/>
              </a:rPr>
              <a:t>ISRO / DoS PAT teams</a:t>
            </a:r>
          </a:p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1A1A1A"/>
                </a:solidFill>
                <a:latin typeface="Arial"/>
              </a:rPr>
              <a:t>Design and regression-test coarse-PAT logic for mobile ground terminals, UAV/HAP relays and LEO-to-ground links before hardware exists.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65760" y="2395728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15" name="Oval 17414"/>
          <p:cNvSpPr/>
          <p:nvPr/>
        </p:nvSpPr>
        <p:spPr>
          <a:xfrm>
            <a:off x="502920" y="2596896"/>
            <a:ext cx="512064" cy="51206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600" b="1" i="0" u="none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1143000" y="2450592"/>
            <a:ext cx="4800600" cy="822960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300" b="1" i="0" u="none">
                <a:solidFill>
                  <a:srgbClr val="1F497D"/>
                </a:solidFill>
                <a:latin typeface="Arial"/>
              </a:rPr>
              <a:t>Academia &amp; students</a:t>
            </a:r>
          </a:p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1A1A1A"/>
                </a:solidFill>
                <a:latin typeface="Arial"/>
              </a:rPr>
              <a:t>Open, seeded, repeatable PAT testbed for courses and research — no optics lab, camera or gimbal needed.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65760" y="3401568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18" name="Oval 17417"/>
          <p:cNvSpPr/>
          <p:nvPr/>
        </p:nvSpPr>
        <p:spPr>
          <a:xfrm>
            <a:off x="502920" y="3602736"/>
            <a:ext cx="512064" cy="51206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600" b="1" i="0" u="none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1143000" y="3456432"/>
            <a:ext cx="4800600" cy="822960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300" b="1" i="0" u="none">
                <a:solidFill>
                  <a:srgbClr val="1F497D"/>
                </a:solidFill>
                <a:latin typeface="Arial"/>
              </a:rPr>
              <a:t>Indian FSOC industry / start-ups</a:t>
            </a:r>
          </a:p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1A1A1A"/>
                </a:solidFill>
                <a:latin typeface="Arial"/>
              </a:rPr>
              <a:t>The tracker exchanges only frames, encoder / IMU readings and rate commands — a real camera + pan-tilt can replace the simulator (HIL).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355080" y="987552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marL="219456" indent="-219456">
              <a:buFont typeface="Wingdings" pitchFamily="2" charset="2"/>
              <a:buChar char="v"/>
            </a:pPr>
            <a:r>
              <a:rPr sz="1350" b="1" i="0" u="sng">
                <a:solidFill>
                  <a:srgbClr val="1F497D"/>
                </a:solidFill>
                <a:latin typeface="Arial"/>
              </a:rPr>
              <a:t>Benefits of the solution (social, economic, environmental, etc.)</a:t>
            </a:r>
          </a:p>
        </p:txBody>
      </p:sp>
      <p:graphicFrame>
        <p:nvGraphicFramePr>
          <p:cNvPr id="17421" name="Table 17420"/>
          <p:cNvGraphicFramePr>
            <a:graphicFrameLocks noGrp="1"/>
          </p:cNvGraphicFramePr>
          <p:nvPr/>
        </p:nvGraphicFramePr>
        <p:xfrm>
          <a:off x="6355080" y="1371600"/>
          <a:ext cx="5486400" cy="27066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80160"/>
                <a:gridCol w="420624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FFFFFF"/>
                          </a:solidFill>
                          <a:latin typeface="Arial"/>
                        </a:rPr>
                        <a:t>Benefit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FFFFFF"/>
                          </a:solidFill>
                          <a:latin typeface="Arial"/>
                        </a:rPr>
                        <a:t>What it means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1A1A1A"/>
                          </a:solidFill>
                          <a:latin typeface="Arial"/>
                        </a:rPr>
                        <a:t>Economic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 u="none">
                          <a:solidFill>
                            <a:srgbClr val="1A1A1A"/>
                          </a:solidFill>
                          <a:latin typeface="Arial"/>
                        </a:rPr>
                        <a:t>Removes the cost barrier named in the PS: iterate without cameras, pan-tilt units, beacons or an optical bench; hardware only for final validation.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1A1A1A"/>
                          </a:solidFill>
                          <a:latin typeface="Arial"/>
                        </a:rPr>
                        <a:t>Technical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 u="none">
                          <a:solidFill>
                            <a:srgbClr val="1A1A1A"/>
                          </a:solidFill>
                          <a:latin typeface="Arial"/>
                        </a:rPr>
                        <a:t>Every run = (scenario, pipeline, seed): disturbance sweeps that cannot be reproduced outdoors, with truth-based logs.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4F6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1A1A1A"/>
                          </a:solidFill>
                          <a:latin typeface="Arial"/>
                        </a:rPr>
                        <a:t>Strategic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 u="none">
                          <a:solidFill>
                            <a:srgbClr val="1A1A1A"/>
                          </a:solidFill>
                          <a:latin typeface="Arial"/>
                        </a:rPr>
                        <a:t>Indigenous, auditable coarse-PAT software stack for Indian optical-communication missions.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1A1A1A"/>
                          </a:solidFill>
                          <a:latin typeface="Arial"/>
                        </a:rPr>
                        <a:t>Social / skills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 u="none">
                          <a:solidFill>
                            <a:srgbClr val="1A1A1A"/>
                          </a:solidFill>
                          <a:latin typeface="Arial"/>
                        </a:rPr>
                        <a:t>Hands-on PAT, computer-vision and control learning for students across India.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1A1A1A"/>
                          </a:solidFill>
                          <a:latin typeface="Arial"/>
                        </a:rPr>
                        <a:t>Environmental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 u="none">
                          <a:solidFill>
                            <a:srgbClr val="1A1A1A"/>
                          </a:solidFill>
                          <a:latin typeface="Arial"/>
                        </a:rPr>
                        <a:t>Fewer vehicle / field trials needed for early tuning.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22" name="Rounded Rectangle 17421"/>
          <p:cNvSpPr/>
          <p:nvPr/>
        </p:nvSpPr>
        <p:spPr>
          <a:xfrm>
            <a:off x="6355080" y="4315968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10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Why acquisition matters: </a:t>
            </a:r>
            <a:r>
              <a:rPr sz="1050" b="0" i="0" u="none">
                <a:solidFill>
                  <a:srgbClr val="1A1A1A"/>
                </a:solidFill>
                <a:latin typeface="Arial"/>
              </a:rPr>
              <a:t>an on-orbit optical link demonstration reported a 22 s acquisition time [Wang et al., Opt. Lett. 2023].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365760" y="4919472"/>
            <a:ext cx="8229600" cy="27432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 u="none">
                <a:solidFill>
                  <a:srgbClr val="1F497D"/>
                </a:solidFill>
                <a:latin typeface="Arial"/>
              </a:rPr>
              <a:t>Roadmap: software-in-the-loop → hardware-in-the-loop (same tracker, simulator swapped for hardware)</a:t>
            </a:r>
          </a:p>
        </p:txBody>
      </p:sp>
      <p:sp>
        <p:nvSpPr>
          <p:cNvPr id="17424" name="Pentagon 17423"/>
          <p:cNvSpPr/>
          <p:nvPr/>
        </p:nvSpPr>
        <p:spPr>
          <a:xfrm>
            <a:off x="365760" y="5239512"/>
            <a:ext cx="2914650" cy="868680"/>
          </a:xfrm>
          <a:prstGeom prst="homePlate">
            <a:avLst>
              <a:gd name="adj" fmla="val 2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74320" tIns="32918" bIns="32918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Arial"/>
              </a:rPr>
              <a:t>1 · SIL (now)</a:t>
            </a:r>
          </a:p>
          <a:p>
            <a:pPr algn="ctr">
              <a:spcAft>
                <a:spcPts val="0"/>
              </a:spcAft>
            </a:pPr>
            <a:r>
              <a:rPr sz="950" b="0" i="0" u="none">
                <a:solidFill>
                  <a:srgbClr val="FFFFFF"/>
                </a:solidFill>
                <a:latin typeface="Arial"/>
              </a:rPr>
              <a:t>simulator, 16 scenarios, benchmarks, GUI</a:t>
            </a:r>
          </a:p>
        </p:txBody>
      </p:sp>
      <p:sp>
        <p:nvSpPr>
          <p:cNvPr id="17425" name="Chevron 17424"/>
          <p:cNvSpPr/>
          <p:nvPr/>
        </p:nvSpPr>
        <p:spPr>
          <a:xfrm>
            <a:off x="3234690" y="5239512"/>
            <a:ext cx="2914650" cy="868680"/>
          </a:xfrm>
          <a:prstGeom prst="chevron">
            <a:avLst>
              <a:gd name="adj" fmla="val 2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74320" tIns="32918" bIns="32918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Arial"/>
              </a:rPr>
              <a:t>2 · Video / real footage</a:t>
            </a:r>
          </a:p>
          <a:p>
            <a:pPr algn="ctr">
              <a:spcAft>
                <a:spcPts val="0"/>
              </a:spcAft>
            </a:pPr>
            <a:r>
              <a:rPr sz="950" b="0" i="0" u="none">
                <a:solidFill>
                  <a:srgbClr val="FFFFFF"/>
                </a:solidFill>
                <a:latin typeface="Arial"/>
              </a:rPr>
              <a:t>Benchmark-2 mode done; real recordings next</a:t>
            </a:r>
          </a:p>
        </p:txBody>
      </p:sp>
      <p:sp>
        <p:nvSpPr>
          <p:cNvPr id="17426" name="Chevron 17425"/>
          <p:cNvSpPr/>
          <p:nvPr/>
        </p:nvSpPr>
        <p:spPr>
          <a:xfrm>
            <a:off x="6103620" y="5239512"/>
            <a:ext cx="2914650" cy="868680"/>
          </a:xfrm>
          <a:prstGeom prst="chevron">
            <a:avLst>
              <a:gd name="adj" fmla="val 2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74320" tIns="32918" bIns="32918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Arial"/>
              </a:rPr>
              <a:t>3 · HIL rig</a:t>
            </a:r>
          </a:p>
          <a:p>
            <a:pPr algn="ctr">
              <a:spcAft>
                <a:spcPts val="0"/>
              </a:spcAft>
            </a:pPr>
            <a:r>
              <a:rPr sz="950" b="0" i="0" u="none">
                <a:solidFill>
                  <a:srgbClr val="FFFFFF"/>
                </a:solidFill>
                <a:latin typeface="Arial"/>
              </a:rPr>
              <a:t>COTS camera + pan-tilt + LED/laser beacon</a:t>
            </a:r>
          </a:p>
        </p:txBody>
      </p:sp>
      <p:sp>
        <p:nvSpPr>
          <p:cNvPr id="17427" name="Chevron 17426"/>
          <p:cNvSpPr/>
          <p:nvPr/>
        </p:nvSpPr>
        <p:spPr>
          <a:xfrm>
            <a:off x="8972550" y="5239512"/>
            <a:ext cx="2914650" cy="868680"/>
          </a:xfrm>
          <a:prstGeom prst="chevron">
            <a:avLst>
              <a:gd name="adj" fmla="val 2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74320" tIns="32918" bIns="32918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Arial"/>
              </a:rPr>
              <a:t>4 · Fine-stage hand-off</a:t>
            </a:r>
          </a:p>
          <a:p>
            <a:pPr algn="ctr">
              <a:spcAft>
                <a:spcPts val="0"/>
              </a:spcAft>
            </a:pPr>
            <a:r>
              <a:rPr sz="950" b="0" i="0" u="none">
                <a:solidFill>
                  <a:srgbClr val="FFFFFF"/>
                </a:solidFill>
                <a:latin typeface="Arial"/>
              </a:rPr>
              <a:t>FSM / quadrant detector removes residual jitter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/>
            <a:r>
              <a:rPr sz="1050" b="1" i="0" u="none">
                <a:solidFill>
                  <a:srgbClr val="1F497D"/>
                </a:solidFill>
                <a:latin typeface="Arial"/>
              </a:rPr>
              <a:t>Regnum Carya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987552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marL="219456" indent="-219456">
              <a:buFont typeface="Wingdings" pitchFamily="2" charset="2"/>
              <a:buChar char="v"/>
            </a:pPr>
            <a:r>
              <a:rPr sz="1500" b="1" i="0" u="sng">
                <a:solidFill>
                  <a:srgbClr val="1F497D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371600"/>
            <a:ext cx="3703320" cy="749808"/>
          </a:xfrm>
          <a:prstGeom prst="roundRect">
            <a:avLst>
              <a:gd name="adj" fmla="val 8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75488" y="1389888"/>
            <a:ext cx="1371600" cy="713232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 u="none">
                <a:solidFill>
                  <a:srgbClr val="0070C0"/>
                </a:solidFill>
                <a:latin typeface="Arial"/>
              </a:rPr>
              <a:t>134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1783080" y="1389888"/>
            <a:ext cx="2194560" cy="713232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papers in a structured literature database (PAT, FOU scanning, centroiding, IMM, gimbal control)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51960" y="1371600"/>
            <a:ext cx="3703320" cy="749808"/>
          </a:xfrm>
          <a:prstGeom prst="roundRect">
            <a:avLst>
              <a:gd name="adj" fmla="val 8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361688" y="1389888"/>
            <a:ext cx="1371600" cy="713232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 u="none">
                <a:solidFill>
                  <a:srgbClr val="0070C0"/>
                </a:solidFill>
                <a:latin typeface="Arial"/>
              </a:rPr>
              <a:t>20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669280" y="1389888"/>
            <a:ext cx="2194560" cy="713232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public SIH26169 repositories analysed (README level) for differentiation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138160" y="1371600"/>
            <a:ext cx="3703320" cy="749808"/>
          </a:xfrm>
          <a:prstGeom prst="roundRect">
            <a:avLst>
              <a:gd name="adj" fmla="val 8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8247888" y="1389888"/>
            <a:ext cx="1371600" cy="713232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 u="none">
                <a:solidFill>
                  <a:srgbClr val="0070C0"/>
                </a:solidFill>
                <a:latin typeface="Arial"/>
              </a:rPr>
              <a:t>16×4×3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9555480" y="1389888"/>
            <a:ext cx="2194560" cy="713232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scenarios × pipelines × seeds on identical seeds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365760" y="2286000"/>
            <a:ext cx="5600700" cy="310896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[1] </a:t>
            </a:r>
            <a:r>
              <a:rPr sz="1050" b="0" i="0" u="none">
                <a:solidFill>
                  <a:srgbClr val="1A1A1A"/>
                </a:solidFill>
                <a:latin typeface="Arial"/>
              </a:rPr>
              <a:t>Kaymak Y. et al., “A Survey on Acquisition, Tracking, and Pointing Mechanisms for Mobile FSO Communications,” IEEE COMST, 2018. </a:t>
            </a:r>
            <a:r>
              <a:rPr sz="1050" b="0" i="0" u="none">
                <a:solidFill>
                  <a:srgbClr val="0070C0"/>
                </a:solidFill>
                <a:latin typeface="Arial"/>
              </a:rPr>
              <a:t>doi.org/10.1109/comst.2018.2804323</a:t>
            </a:r>
          </a:p>
          <a:p>
            <a:pPr algn="l">
              <a:spcAft>
                <a:spcPts val="80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[2] </a:t>
            </a:r>
            <a:r>
              <a:rPr sz="1050" b="0" i="0" u="none">
                <a:solidFill>
                  <a:srgbClr val="1A1A1A"/>
                </a:solidFill>
                <a:latin typeface="Arial"/>
              </a:rPr>
              <a:t>Abdelfatah R. et al., “A review on PAT approaches in UAV-based FSO communication systems,” Opt. Quantum Electron., 2022. </a:t>
            </a:r>
            <a:r>
              <a:rPr sz="1050" b="0" i="0" u="none">
                <a:solidFill>
                  <a:srgbClr val="0070C0"/>
                </a:solidFill>
                <a:latin typeface="Arial"/>
              </a:rPr>
              <a:t>doi.org/10.1007/s11082-022-03968-2</a:t>
            </a:r>
          </a:p>
          <a:p>
            <a:pPr algn="l">
              <a:spcAft>
                <a:spcPts val="80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[3] </a:t>
            </a:r>
            <a:r>
              <a:rPr sz="1050" b="0" i="0" u="none">
                <a:solidFill>
                  <a:srgbClr val="1A1A1A"/>
                </a:solidFill>
                <a:latin typeface="Arial"/>
              </a:rPr>
              <a:t>Wang X. et al., “On-orbit space optical communication demonstration with a 22 s acquisition time,” Opt. Lett., 2023. </a:t>
            </a:r>
            <a:r>
              <a:rPr sz="1050" b="0" i="0" u="none">
                <a:solidFill>
                  <a:srgbClr val="0070C0"/>
                </a:solidFill>
                <a:latin typeface="Arial"/>
              </a:rPr>
              <a:t>doi.org/10.1364/ol.505966</a:t>
            </a:r>
          </a:p>
          <a:p>
            <a:pPr algn="l">
              <a:spcAft>
                <a:spcPts val="80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[4] </a:t>
            </a:r>
            <a:r>
              <a:rPr sz="1050" b="0" i="0" u="none">
                <a:solidFill>
                  <a:srgbClr val="1A1A1A"/>
                </a:solidFill>
                <a:latin typeface="Arial"/>
              </a:rPr>
              <a:t>Friederichs L. et al., “Vibration Influence on Hit Probability During Beaconless Spatial Acquisition,” J. Lightwave Technol., 2016. </a:t>
            </a:r>
            <a:r>
              <a:rPr sz="1050" b="0" i="0" u="none">
                <a:solidFill>
                  <a:srgbClr val="0070C0"/>
                </a:solidFill>
                <a:latin typeface="Arial"/>
              </a:rPr>
              <a:t>doi.org/10.1109/jlt.2016.2542918</a:t>
            </a:r>
          </a:p>
          <a:p>
            <a:pPr algn="l">
              <a:spcAft>
                <a:spcPts val="80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[5] </a:t>
            </a:r>
            <a:r>
              <a:rPr sz="1050" b="0" i="0" u="none">
                <a:solidFill>
                  <a:srgbClr val="1A1A1A"/>
                </a:solidFill>
                <a:latin typeface="Arial"/>
              </a:rPr>
              <a:t>Wang T. et al., “Probability Descent-Based Equivalent Spot Scanning for Satellite Laser Acquisition…,” IEEE TAES, 2025. </a:t>
            </a:r>
            <a:r>
              <a:rPr sz="1050" b="0" i="0" u="none">
                <a:solidFill>
                  <a:srgbClr val="0070C0"/>
                </a:solidFill>
                <a:latin typeface="Arial"/>
              </a:rPr>
              <a:t>doi.org/10.1109/taes.2025.3596959</a:t>
            </a:r>
          </a:p>
          <a:p>
            <a:pPr algn="l">
              <a:spcAft>
                <a:spcPts val="80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[6] </a:t>
            </a:r>
            <a:r>
              <a:rPr sz="1050" b="0" i="0" u="none">
                <a:solidFill>
                  <a:srgbClr val="1A1A1A"/>
                </a:solidFill>
                <a:latin typeface="Arial"/>
              </a:rPr>
              <a:t>Skryja P., Barcik P., “Optimal Scanning Pattern for Initial Free-Space Optical-Link Alignment,” Photonics, 2024. </a:t>
            </a:r>
            <a:r>
              <a:rPr sz="1050" b="0" i="0" u="none">
                <a:solidFill>
                  <a:srgbClr val="0070C0"/>
                </a:solidFill>
                <a:latin typeface="Arial"/>
              </a:rPr>
              <a:t>doi.org/10.3390/photonics11060540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240780" y="2286000"/>
            <a:ext cx="5600700" cy="310896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[7] </a:t>
            </a:r>
            <a:r>
              <a:rPr sz="1050" b="0" i="0" u="none">
                <a:solidFill>
                  <a:srgbClr val="1A1A1A"/>
                </a:solidFill>
                <a:latin typeface="Arial"/>
              </a:rPr>
              <a:t>Wang Q. et al., “Approach for recognizing and tracking beacon in inter-satellite optical communication…,” Opt. Express, 2018. </a:t>
            </a:r>
            <a:r>
              <a:rPr sz="1050" b="0" i="0" u="none">
                <a:solidFill>
                  <a:srgbClr val="0070C0"/>
                </a:solidFill>
                <a:latin typeface="Arial"/>
              </a:rPr>
              <a:t>doi.org/10.1364/oe.26.028080</a:t>
            </a:r>
          </a:p>
          <a:p>
            <a:pPr algn="l">
              <a:spcAft>
                <a:spcPts val="80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[8] </a:t>
            </a:r>
            <a:r>
              <a:rPr sz="1050" b="0" i="0" u="none">
                <a:solidFill>
                  <a:srgbClr val="1A1A1A"/>
                </a:solidFill>
                <a:latin typeface="Arial"/>
              </a:rPr>
              <a:t>Lim H. et al., “Centroid Error Analysis of Beacon Tracking under Atmospheric Turbulence…,” Remote Sensing, 2021. </a:t>
            </a:r>
            <a:r>
              <a:rPr sz="1050" b="0" i="0" u="none">
                <a:solidFill>
                  <a:srgbClr val="0070C0"/>
                </a:solidFill>
                <a:latin typeface="Arial"/>
              </a:rPr>
              <a:t>doi.org/10.3390/rs13101931</a:t>
            </a:r>
          </a:p>
          <a:p>
            <a:pPr algn="l">
              <a:spcAft>
                <a:spcPts val="80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[9] </a:t>
            </a:r>
            <a:r>
              <a:rPr sz="1050" b="0" i="0" u="none">
                <a:solidFill>
                  <a:srgbClr val="1A1A1A"/>
                </a:solidFill>
                <a:latin typeface="Arial"/>
              </a:rPr>
              <a:t>Li L. et al., “Noise adaptive fading Kalman filter for free-space laser communication beacon tracking,” Appl. Opt., 2016. </a:t>
            </a:r>
            <a:r>
              <a:rPr sz="1050" b="0" i="0" u="none">
                <a:solidFill>
                  <a:srgbClr val="0070C0"/>
                </a:solidFill>
                <a:latin typeface="Arial"/>
              </a:rPr>
              <a:t>doi.org/10.1364/ao.55.008486</a:t>
            </a:r>
          </a:p>
          <a:p>
            <a:pPr algn="l">
              <a:spcAft>
                <a:spcPts val="80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[10] </a:t>
            </a:r>
            <a:r>
              <a:rPr sz="1050" b="0" i="0" u="none">
                <a:solidFill>
                  <a:srgbClr val="1A1A1A"/>
                </a:solidFill>
                <a:latin typeface="Arial"/>
              </a:rPr>
              <a:t>Youn W., Myung H., “Robust Interacting Multiple Model With Modeling Uncertainties for Maneuvering Target Tracking,” IEEE Access, 2019. </a:t>
            </a:r>
            <a:r>
              <a:rPr sz="1050" b="0" i="0" u="none">
                <a:solidFill>
                  <a:srgbClr val="0070C0"/>
                </a:solidFill>
                <a:latin typeface="Arial"/>
              </a:rPr>
              <a:t>doi.org/10.1109/access.2019.2915506</a:t>
            </a:r>
          </a:p>
          <a:p>
            <a:pPr algn="l">
              <a:spcAft>
                <a:spcPts val="80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[11] </a:t>
            </a:r>
            <a:r>
              <a:rPr sz="1050" b="0" i="0" u="none">
                <a:solidFill>
                  <a:srgbClr val="1A1A1A"/>
                </a:solidFill>
                <a:latin typeface="Arial"/>
              </a:rPr>
              <a:t>Bian Q. et al., “Accelerometer-Assisted Disturbance Feedforward Control of an Inertially Stabilized Platform…,” IEEE Sensors J., 2023. </a:t>
            </a:r>
            <a:r>
              <a:rPr sz="1050" b="0" i="0" u="none">
                <a:solidFill>
                  <a:srgbClr val="0070C0"/>
                </a:solidFill>
                <a:latin typeface="Arial"/>
              </a:rPr>
              <a:t>doi.org/10.1109/jsen.2023.3259446</a:t>
            </a:r>
          </a:p>
          <a:p>
            <a:pPr algn="l">
              <a:spcAft>
                <a:spcPts val="80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[12] </a:t>
            </a:r>
            <a:r>
              <a:rPr sz="1050" b="0" i="0" u="none">
                <a:solidFill>
                  <a:srgbClr val="1A1A1A"/>
                </a:solidFill>
                <a:latin typeface="Arial"/>
              </a:rPr>
              <a:t>Kiesbye J. et al., “Hardware-In-The-Loop and Software-In-The-Loop Testing of the MOVE-II CubeSat,” Aerospace, 2019. </a:t>
            </a:r>
            <a:r>
              <a:rPr sz="1050" b="0" i="0" u="none">
                <a:solidFill>
                  <a:srgbClr val="0070C0"/>
                </a:solidFill>
                <a:latin typeface="Arial"/>
              </a:rPr>
              <a:t>doi.org/10.3390/aerospace6120130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365760" y="5468112"/>
            <a:ext cx="7589520" cy="77724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100"/>
              </a:spcAft>
            </a:pPr>
            <a:r>
              <a:rPr sz="1000" b="0" i="1" u="none">
                <a:solidFill>
                  <a:srgbClr val="1A1A1A"/>
                </a:solidFill>
                <a:latin typeface="Arial"/>
              </a:rPr>
              <a:t>Based on our review of 134 papers and 20 public SIH26169 repositories, we did not identify a coarse-PAT system that combines a recursively updated belief map, FOV selection from measured noise, and belief-seeded re-acquisition.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8092440" y="5468112"/>
            <a:ext cx="3749039" cy="777240"/>
          </a:xfrm>
          <a:prstGeom prst="roundRect">
            <a:avLst>
              <a:gd name="adj" fmla="val 8000"/>
            </a:avLst>
          </a:prstGeom>
          <a:solidFill>
            <a:srgbClr val="E6F3E7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2E7D32"/>
                </a:solidFill>
                <a:latin typeface="Arial"/>
              </a:rPr>
              <a:t>PS coverage</a:t>
            </a:r>
          </a:p>
          <a:p>
            <a:pPr algn="ctr">
              <a:spcAft>
                <a:spcPts val="0"/>
              </a:spcAft>
            </a:pPr>
            <a:r>
              <a:rPr sz="900" b="0" i="0" u="none">
                <a:solidFill>
                  <a:srgbClr val="1A1A1A"/>
                </a:solidFill>
                <a:latin typeface="Arial"/>
              </a:rPr>
              <a:t>10 mandatory functions implemented · 5 performance specs measured per scenario (all met in 11/16) · auto performance logs · Benchmark-2 video mode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
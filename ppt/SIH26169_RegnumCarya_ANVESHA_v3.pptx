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1. The physics (left panel): "The screen is 12.5° × 12.5°. The default 4° × 3° camera sees</a:t>
            </a:r>
          </a:p>
          <a:p>
            <a:r>
              <a:t>   7.7 % of it. At 5 °/s the gimbal can slew at most 10° in two seconds, but a blind raster at</a:t>
            </a:r>
          </a:p>
          <a:p>
            <a:r>
              <a:t>   the base FOV needs roughly 40–50° of slew — about 8–10 s worst case. So ≤ 2 s from a random</a:t>
            </a:r>
          </a:p>
          <a:p>
            <a:r>
              <a:t>   start is not a tuning problem; it is a where-to-look problem."</a:t>
            </a:r>
          </a:p>
          <a:p>
            <a:r>
              <a:t>2. The loop (middle): "Camera → detect → estimate → belief and planner → control → gimbal.</a:t>
            </a:r>
          </a:p>
          <a:p>
            <a:r>
              <a:t>   The orange block is what is new: one probability map of where the beacon can be. Every frame</a:t>
            </a:r>
          </a:p>
          <a:p>
            <a:r>
              <a:t>   in which we do not see the beacon removes probability from the area we looked at. The planner</a:t>
            </a:r>
          </a:p>
          <a:p>
            <a:r>
              <a:t>   picks the next pointing and FOV (1×, 2× or 3× the base FOV) that gives the highest detection</a:t>
            </a:r>
          </a:p>
          <a:p>
            <a:r>
              <a:t>   probability per second, using the noise we actually measure in the image."</a:t>
            </a:r>
          </a:p>
          <a:p>
            <a:r>
              <a:t>3. Innovation (right): read the three titles only — belief-driven search, disturbance-aware FOV,</a:t>
            </a:r>
          </a:p>
          <a:p>
            <a:r>
              <a:t>   one belief across the whole search–track–loss–re-acquire lifecycle.</a:t>
            </a:r>
          </a:p>
          <a:p>
            <a:r>
              <a:t>4. Table: "Typical public approaches use a fixed spiral, a rule-switched wide FOV, or restart</a:t>
            </a:r>
          </a:p>
          <a:p>
            <a:r>
              <a:t>   the spiral after a loss. We replace each with a probabilistic decision."</a:t>
            </a:r>
          </a:p>
          <a:p>
            <a:r>
              <a:t>5. Point to the measured badge: "Measured on identical seeds, 77 % of our 48 runs acquire within</a:t>
            </a:r>
          </a:p>
          <a:p>
            <a:r>
              <a:t>   2 s versus 12–15 % for three spiral baselines. Slide 4 shows where we still fail."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"Top band: a 240 Hz physics simulation — beacon on seven trajectories, platform motion with an IMU,</a:t>
            </a:r>
          </a:p>
          <a:p>
            <a:r>
              <a:t>and every PS disturbance: Gaussian, Poisson and salt-and-pepper noise, jitter, haze, fog, rain, low</a:t>
            </a:r>
          </a:p>
          <a:p>
            <a:r>
              <a:t>light and turbulence. The virtual focal-plane-array camera is 640 × 480 at 30 Hz; the gimbal is rate</a:t>
            </a:r>
          </a:p>
          <a:p>
            <a:r>
              <a:t>limited to 5 °/s with lag and latency.</a:t>
            </a:r>
          </a:p>
          <a:p>
            <a:r>
              <a:t>The navy row is the tracking chain: perception with a matched filter and CFAR threshold plus a</a:t>
            </a:r>
          </a:p>
          <a:p>
            <a:r>
              <a:t>small CNN verifier; gated association; an IMM estimator whose measurement noise adapts to the</a:t>
            </a:r>
          </a:p>
          <a:p>
            <a:r>
              <a:t>jitter it measures; a supervisor state machine; and a 60 Hz predictive controller with IMU</a:t>
            </a:r>
          </a:p>
          <a:p>
            <a:r>
              <a:t>feed-forward.</a:t>
            </a:r>
          </a:p>
          <a:p>
            <a:r>
              <a:t>Orange is the belief search, connected to the supervisor in both directions. Amber is Benchmark-2:</a:t>
            </a:r>
          </a:p>
          <a:p>
            <a:r>
              <a:t>an evaluator's .mp4 bypasses the camera and enters the same perception and estimator. Green is</a:t>
            </a:r>
          </a:p>
          <a:p>
            <a:r>
              <a:t>the metrics layer — it is the only place that sees ground truth — and it writes the per-frame CSV,</a:t>
            </a:r>
          </a:p>
          <a:p>
            <a:r>
              <a:t>JSON summary and HTML report automatically. The screenshot is the live mission-control GUI."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"This slide is our evidence, including where we fail. Left: ANVESHA on 16 scenarios, three seeds</a:t>
            </a:r>
          </a:p>
          <a:p>
            <a:r>
              <a:t>each, against every PS limit — green meets it, red does not. It meets all PS checks in 9 of 16</a:t>
            </a:r>
          </a:p>
          <a:p>
            <a:r>
              <a:t>scenarios; the three baselines, run on the same seeds, meet all checks in none.</a:t>
            </a:r>
          </a:p>
          <a:p>
            <a:r>
              <a:t>Middle: 77 % of 48 runs acquire within 2 s versus 12–15 % for spiral baselines. [If shown: the</a:t>
            </a:r>
          </a:p>
          <a:p>
            <a:r>
              <a:t>ablation line says what each part buys.] Re-acquisition after two scripted occlusions averages</a:t>
            </a:r>
          </a:p>
          <a:p>
            <a:r>
              <a:t>0.07 s with nothing unrecovered. In Benchmark-2 video mode on a 2000 × 2000, 30 fps clip the</a:t>
            </a:r>
          </a:p>
          <a:p>
            <a:r>
              <a:t>raw centroid RMSE is 0.14 px at 29 FPS end-to-end including video decoding.</a:t>
            </a:r>
          </a:p>
          <a:p>
            <a:r>
              <a:t>Bottom: our measured gaps. In dense fog and rain we did not acquire at all; look-alike distractors</a:t>
            </a:r>
          </a:p>
          <a:p>
            <a:r>
              <a:t>and the all-maxima case cause false locks; LOS error exceeds 10 px under vibration, fast</a:t>
            </a:r>
          </a:p>
          <a:p>
            <a:r>
              <a:t>manoeuvres and occlusion. And one limit nobody can meet with a coarse gimbal: ±20 px white jitter</a:t>
            </a:r>
          </a:p>
          <a:p>
            <a:r>
              <a:t>alone is 16.3 px RMS, above the 10 px limit. We report LOS error and image error separately so</a:t>
            </a:r>
          </a:p>
          <a:p>
            <a:r>
              <a:t>the evaluator can see which part is correctable."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"Three audiences. ISRO and DoS PAT teams can design and regression-test coarse-PAT logic for mobile</a:t>
            </a:r>
          </a:p>
          <a:p>
            <a:r>
              <a:t>ground terminals, UAV or HAP relays and LEO downlinks before hardware exists. Students and</a:t>
            </a:r>
          </a:p>
          <a:p>
            <a:r>
              <a:t>researchers get an open, seeded testbed without an optics lab. Indian FSOC start-ups can move the</a:t>
            </a:r>
          </a:p>
          <a:p>
            <a:r>
              <a:t>same algorithms onto a real camera and pan-tilt, because the tracker only exchanges frames, encoder and IMU</a:t>
            </a:r>
          </a:p>
          <a:p>
            <a:r>
              <a:t>readings and rate commands with the world.</a:t>
            </a:r>
          </a:p>
          <a:p>
            <a:r>
              <a:t>The benefit the PS itself names is cost: expensive cameras, pan-tilt units and optical benches are</a:t>
            </a:r>
          </a:p>
          <a:p>
            <a:r>
              <a:t>needed only for final validation. Acquisition time matters in practice — an on-orbit optical link</a:t>
            </a:r>
          </a:p>
          <a:p>
            <a:r>
              <a:t>demonstration reported a 22-second acquisition. Our roadmap: today software-in-the-loop; next real</a:t>
            </a:r>
          </a:p>
          <a:p>
            <a:r>
              <a:t>footage through the video mode; then a hardware-in-the-loop rig; finally hand-off to a fine-steering</a:t>
            </a:r>
          </a:p>
          <a:p>
            <a:r>
              <a:t>stage that removes the residual jitter."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"We built a 134-paper database covering PAT surveys, scanning-based acquisition, beacon centroiding,</a:t>
            </a:r>
          </a:p>
          <a:p>
            <a:r>
              <a:t>IMM tracking and gimbal disturbance rejection, and read the READMEs of 20 public SIH26169</a:t>
            </a:r>
          </a:p>
          <a:p>
            <a:r>
              <a:t>repositories to see what is already common. Based on that review we did not identify a coarse-PAT</a:t>
            </a:r>
          </a:p>
          <a:p>
            <a:r>
              <a:t>system combining a recursively updated belief map, FOV selection from measured noise and</a:t>
            </a:r>
          </a:p>
          <a:p>
            <a:r>
              <a:t>belief-seeded re-acquisition. The twelve references here are the ones our design directly uses."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"We are Regnum Carya. Our problem statement is SIH26169 from ISRO: a virtual camera tracking</a:t>
            </a:r>
          </a:p>
          <a:p>
            <a:r>
              <a:t>system for coarse alignment of mobile free-space optical terminals. Our solution is called</a:t>
            </a:r>
          </a:p>
          <a:p>
            <a:r>
              <a:t>ANVESHA — Sanskrit for search — because we found that the hard part of this problem is not</a:t>
            </a:r>
          </a:p>
          <a:p>
            <a:r>
              <a:t>detecting a bright spot, it is deciding where to look, how wide to look, and what not to chase."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82880" y="-526757"/>
            <a:ext cx="9509760" cy="2076450"/>
          </a:xfrm>
        </p:spPr>
        <p:txBody>
          <a:bodyPr/>
          <a:lstStyle/>
          <a:p>
            <a:r>
              <a:rPr lang="en-US" sz="38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38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ProjectName"/>
          <p:cNvSpPr txBox="1"/>
          <p:nvPr/>
        </p:nvSpPr>
        <p:spPr>
          <a:xfrm>
            <a:off x="411480" y="1783080"/>
            <a:ext cx="6035040" cy="566928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3400" b="1" i="0" u="none">
                <a:solidFill>
                  <a:srgbClr val="1F497D"/>
                </a:solidFill>
                <a:latin typeface="Times New Roman"/>
              </a:rPr>
              <a:t>ANVESHA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" y="2331720"/>
            <a:ext cx="5943600" cy="36576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1" i="0" u="none">
                <a:solidFill>
                  <a:srgbClr val="0070C0"/>
                </a:solidFill>
                <a:latin typeface="Arial"/>
              </a:rPr>
              <a:t>Belief-Driven Coarse PAT for Mobile FSOC Terminals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46520" y="6053328"/>
            <a:ext cx="4480560" cy="457200"/>
          </a:xfrm>
          <a:prstGeom prst="roundRect">
            <a:avLst>
              <a:gd name="adj" fmla="val 1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ctr">
              <a:spcAft>
                <a:spcPts val="100"/>
              </a:spcAft>
            </a:pPr>
            <a:r>
              <a:rPr sz="1250" b="1" i="1" u="none">
                <a:solidFill>
                  <a:srgbClr val="1F497D"/>
                </a:solidFill>
                <a:latin typeface="Arial"/>
              </a:rPr>
              <a:t>Where to look · how wide to look · what not to chase</a:t>
            </a:r>
          </a:p>
        </p:txBody>
      </p:sp>
      <p:sp>
        <p:nvSpPr>
          <p:cNvPr id="42" name="Fields"/>
          <p:cNvSpPr txBox="1"/>
          <p:nvPr/>
        </p:nvSpPr>
        <p:spPr>
          <a:xfrm>
            <a:off x="411480" y="2926080"/>
            <a:ext cx="6035040" cy="356616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 marL="219456" indent="-219456">
              <a:spcAft>
                <a:spcPts val="1100"/>
              </a:spcAft>
              <a:buFont typeface="Arial"/>
              <a:buChar char="•"/>
            </a:pPr>
            <a:r>
              <a:rPr sz="1500" b="1" i="0" u="none">
                <a:solidFill>
                  <a:srgbClr val="1A1A1A"/>
                </a:solidFill>
                <a:latin typeface="Arial"/>
              </a:rPr>
              <a:t>Problem Statement ID : </a:t>
            </a:r>
            <a:r>
              <a:rPr sz="1500" b="1" i="0" u="none">
                <a:solidFill>
                  <a:srgbClr val="0070C0"/>
                </a:solidFill>
                <a:latin typeface="Arial"/>
              </a:rPr>
              <a:t>SIH26169</a:t>
            </a:r>
          </a:p>
          <a:p>
            <a:pPr algn="l" marL="219456" indent="-219456">
              <a:spcAft>
                <a:spcPts val="1100"/>
              </a:spcAft>
              <a:buFont typeface="Arial"/>
              <a:buChar char="•"/>
            </a:pPr>
            <a:r>
              <a:rPr sz="1500" b="1" i="0" u="none">
                <a:solidFill>
                  <a:srgbClr val="1A1A1A"/>
                </a:solidFill>
                <a:latin typeface="Arial"/>
              </a:rPr>
              <a:t>Problem Statement Title : </a:t>
            </a:r>
            <a:r>
              <a:rPr sz="1500" b="1" i="0" u="none">
                <a:solidFill>
                  <a:srgbClr val="0070C0"/>
                </a:solidFill>
                <a:latin typeface="Arial"/>
              </a:rPr>
              <a:t>Development of an AI-Based Virtual Camera Tracking System for Coarse Alignment of Mobile Free Space Optical Communication (FSOC) Terminals</a:t>
            </a:r>
          </a:p>
          <a:p>
            <a:pPr algn="l" marL="219456" indent="-219456">
              <a:spcAft>
                <a:spcPts val="1100"/>
              </a:spcAft>
              <a:buFont typeface="Arial"/>
              <a:buChar char="•"/>
            </a:pPr>
            <a:r>
              <a:rPr sz="1500" b="1" i="0" u="none">
                <a:solidFill>
                  <a:srgbClr val="1A1A1A"/>
                </a:solidFill>
                <a:latin typeface="Arial"/>
              </a:rPr>
              <a:t>Theme : </a:t>
            </a:r>
            <a:r>
              <a:rPr sz="1500" b="1" i="0" u="none">
                <a:solidFill>
                  <a:srgbClr val="0070C0"/>
                </a:solidFill>
                <a:latin typeface="Arial"/>
              </a:rPr>
              <a:t>Smart Automation / Space Technology</a:t>
            </a:r>
          </a:p>
          <a:p>
            <a:pPr algn="l" marL="219456" indent="-219456">
              <a:spcAft>
                <a:spcPts val="1100"/>
              </a:spcAft>
              <a:buFont typeface="Arial"/>
              <a:buChar char="•"/>
            </a:pPr>
            <a:r>
              <a:rPr sz="1500" b="1" i="0" u="none">
                <a:solidFill>
                  <a:srgbClr val="1A1A1A"/>
                </a:solidFill>
                <a:latin typeface="Arial"/>
              </a:rPr>
              <a:t>PS Category : </a:t>
            </a:r>
            <a:r>
              <a:rPr sz="1500" b="1" i="0" u="none">
                <a:solidFill>
                  <a:srgbClr val="0070C0"/>
                </a:solidFill>
                <a:latin typeface="Arial"/>
              </a:rPr>
              <a:t>Software</a:t>
            </a:r>
          </a:p>
          <a:p>
            <a:pPr algn="l" marL="219456" indent="-219456">
              <a:spcAft>
                <a:spcPts val="1100"/>
              </a:spcAft>
              <a:buFont typeface="Arial"/>
              <a:buChar char="•"/>
            </a:pPr>
            <a:r>
              <a:rPr sz="1500" b="1" i="0" u="none">
                <a:solidFill>
                  <a:srgbClr val="1A1A1A"/>
                </a:solidFill>
                <a:latin typeface="Arial"/>
              </a:rPr>
              <a:t>Team ID : </a:t>
            </a:r>
            <a:r>
              <a:rPr sz="1500" b="1" i="0" u="none">
                <a:solidFill>
                  <a:srgbClr val="0070C0"/>
                </a:solidFill>
                <a:latin typeface="Arial"/>
              </a:rPr>
              <a:t>________</a:t>
            </a:r>
          </a:p>
          <a:p>
            <a:pPr algn="l" marL="219456" indent="-219456">
              <a:spcAft>
                <a:spcPts val="1100"/>
              </a:spcAft>
              <a:buFont typeface="Arial"/>
              <a:buChar char="•"/>
            </a:pPr>
            <a:r>
              <a:rPr sz="1500" b="1" i="0" u="none">
                <a:solidFill>
                  <a:srgbClr val="1A1A1A"/>
                </a:solidFill>
                <a:latin typeface="Arial"/>
              </a:rPr>
              <a:t>Team Name (Registered on portal) : </a:t>
            </a:r>
            <a:r>
              <a:rPr sz="1500" b="1" i="0" u="none">
                <a:solidFill>
                  <a:srgbClr val="0070C0"/>
                </a:solidFill>
                <a:latin typeface="Arial"/>
              </a:rPr>
              <a:t>Regnum Carya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566160" y="6356353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en-US" b="1">
                <a:solidFill>
                  <a:srgbClr val="FFFFFF"/>
                </a:solidFill>
              </a:rPr>
              <a:t>@ Regnum Carya  ·  ANVESHA  ·  SIH26169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18288" rIns="18288" tIns="10972" bIns="10972">
            <a:noAutofit/>
          </a:bodyPr>
          <a:lstStyle/>
          <a:p>
            <a:pPr algn="ctr"/>
            <a:r>
              <a:rPr sz="1050" b="1" i="0" u="none">
                <a:solidFill>
                  <a:srgbClr val="1F497D"/>
                </a:solidFill>
                <a:latin typeface="Arial"/>
              </a:rPr>
              <a:t>Regnum Carya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365760" y="1005840"/>
            <a:ext cx="896112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marL="219456" indent="-219456">
              <a:buFont typeface="Wingdings" pitchFamily="2" charset="2"/>
              <a:buChar char="v"/>
            </a:pPr>
            <a:r>
              <a:rPr sz="1600" b="1" i="0" u="sng">
                <a:solidFill>
                  <a:srgbClr val="1F497D"/>
                </a:solidFill>
                <a:latin typeface="Arial"/>
              </a:rPr>
              <a:t>Proposed Solution (Describe your Idea/Solution/Prototype)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365760" y="1371600"/>
            <a:ext cx="7818120" cy="411480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350" b="1" i="0" u="none">
                <a:solidFill>
                  <a:srgbClr val="1F497D"/>
                </a:solidFill>
                <a:latin typeface="Arial"/>
              </a:rPr>
              <a:t>ANVESHA: </a:t>
            </a:r>
            <a:r>
              <a:rPr sz="1350" b="0" i="0" u="none">
                <a:solidFill>
                  <a:srgbClr val="1A1A1A"/>
                </a:solidFill>
                <a:latin typeface="Arial"/>
              </a:rPr>
              <a:t>a probability map of the beacon decides </a:t>
            </a:r>
            <a:r>
              <a:rPr sz="1350" b="1" i="0" u="none">
                <a:solidFill>
                  <a:srgbClr val="1A1A1A"/>
                </a:solidFill>
                <a:latin typeface="Arial"/>
              </a:rPr>
              <a:t>where to point</a:t>
            </a:r>
            <a:r>
              <a:rPr sz="1350" b="0" i="0" u="none">
                <a:solidFill>
                  <a:srgbClr val="1A1A1A"/>
                </a:solidFill>
                <a:latin typeface="Arial"/>
              </a:rPr>
              <a:t> and </a:t>
            </a:r>
            <a:r>
              <a:rPr sz="1350" b="1" i="0" u="none">
                <a:solidFill>
                  <a:srgbClr val="1A1A1A"/>
                </a:solidFill>
                <a:latin typeface="Arial"/>
              </a:rPr>
              <a:t>how wide to look</a:t>
            </a:r>
            <a:r>
              <a:rPr sz="1350" b="0" i="0" u="none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8366760" y="1307592"/>
            <a:ext cx="3474720" cy="457200"/>
          </a:xfrm>
          <a:prstGeom prst="roundRect">
            <a:avLst>
              <a:gd name="adj" fmla="val 12000"/>
            </a:avLst>
          </a:prstGeom>
          <a:solidFill>
            <a:srgbClr val="EAF2FA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100"/>
              </a:spcAft>
            </a:pPr>
            <a:r>
              <a:rPr sz="950" b="1" i="0" u="none">
                <a:solidFill>
                  <a:srgbClr val="1F497D"/>
                </a:solidFill>
                <a:latin typeface="Arial"/>
              </a:rPr>
              <a:t>Measured (SIL, 48 runs each): </a:t>
            </a:r>
            <a:r>
              <a:rPr sz="950" b="0" i="0" u="none">
                <a:solidFill>
                  <a:srgbClr val="1A1A1A"/>
                </a:solidFill>
                <a:latin typeface="Arial"/>
              </a:rPr>
              <a:t>87 % of runs acquired ≤ 2 s vs 12–15 % for spiral baselines (slide 4)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365760" y="1810512"/>
            <a:ext cx="3611880" cy="2852928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457200" y="1883664"/>
            <a:ext cx="2307945" cy="237744"/>
          </a:xfrm>
          <a:prstGeom prst="roundRect">
            <a:avLst>
              <a:gd name="adj" fmla="val 30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>
            <a:noAutofit/>
          </a:bodyPr>
          <a:lstStyle/>
          <a:p>
            <a:pPr algn="ctr">
              <a:spcAft>
                <a:spcPts val="100"/>
              </a:spcAft>
            </a:pPr>
            <a:r>
              <a:rPr sz="1050" b="1" i="0" u="none">
                <a:solidFill>
                  <a:srgbClr val="FFFFFF"/>
                </a:solidFill>
                <a:latin typeface="Arial"/>
              </a:rPr>
              <a:t>How it addresses the problem</a:t>
            </a:r>
          </a:p>
        </p:txBody>
      </p:sp>
      <p:sp>
        <p:nvSpPr>
          <p:cNvPr id="15367" name="Rectangle 15366"/>
          <p:cNvSpPr/>
          <p:nvPr/>
        </p:nvSpPr>
        <p:spPr>
          <a:xfrm>
            <a:off x="502920" y="2267712"/>
            <a:ext cx="123444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5368" name="Rectangle 15367"/>
          <p:cNvSpPr/>
          <p:nvPr/>
        </p:nvSpPr>
        <p:spPr>
          <a:xfrm>
            <a:off x="527608" y="2440533"/>
            <a:ext cx="1185062" cy="888796"/>
          </a:xfrm>
          <a:prstGeom prst="rect">
            <a:avLst/>
          </a:prstGeom>
          <a:noFill/>
          <a:ln w="12700">
            <a:solidFill>
              <a:srgbClr val="C55A1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5369" name="Rectangle 15368"/>
          <p:cNvSpPr/>
          <p:nvPr/>
        </p:nvSpPr>
        <p:spPr>
          <a:xfrm>
            <a:off x="922629" y="2736799"/>
            <a:ext cx="395020" cy="29626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457200" y="3520440"/>
            <a:ext cx="3383280" cy="22860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 u="none">
                <a:solidFill>
                  <a:srgbClr val="555B66"/>
                </a:solidFill>
                <a:latin typeface="Arial"/>
              </a:rPr>
              <a:t>To scale: screen 12.5°×12.5° · </a:t>
            </a:r>
            <a:r>
              <a:rPr sz="900" b="0" i="0" u="none">
                <a:solidFill>
                  <a:srgbClr val="0070C0"/>
                </a:solidFill>
                <a:latin typeface="Arial"/>
              </a:rPr>
              <a:t>■ </a:t>
            </a:r>
            <a:r>
              <a:rPr sz="900" b="0" i="0" u="none">
                <a:solidFill>
                  <a:srgbClr val="555B66"/>
                </a:solidFill>
                <a:latin typeface="Arial"/>
              </a:rPr>
              <a:t>4°×3° base FOV · </a:t>
            </a:r>
            <a:r>
              <a:rPr sz="900" b="0" i="0" u="none">
                <a:solidFill>
                  <a:srgbClr val="C55A11"/>
                </a:solidFill>
                <a:latin typeface="Arial"/>
              </a:rPr>
              <a:t>▭ </a:t>
            </a:r>
            <a:r>
              <a:rPr sz="900" b="0" i="0" u="none">
                <a:solidFill>
                  <a:srgbClr val="555B66"/>
                </a:solidFill>
                <a:latin typeface="Arial"/>
              </a:rPr>
              <a:t>12°×9° wide FOV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1847088" y="2194560"/>
            <a:ext cx="2103120" cy="173736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000" b="0" i="0" u="none">
                <a:solidFill>
                  <a:srgbClr val="1A1A1A"/>
                </a:solidFill>
                <a:latin typeface="Arial"/>
              </a:rPr>
              <a:t>4°×3° FOV = </a:t>
            </a:r>
            <a:r>
              <a:rPr sz="1000" b="1" i="0" u="none">
                <a:solidFill>
                  <a:srgbClr val="1A1A1A"/>
                </a:solidFill>
                <a:latin typeface="Arial"/>
              </a:rPr>
              <a:t>7.7 %</a:t>
            </a:r>
            <a:r>
              <a:rPr sz="1000" b="0" i="0" u="none">
                <a:solidFill>
                  <a:srgbClr val="1A1A1A"/>
                </a:solidFill>
                <a:latin typeface="Arial"/>
              </a:rPr>
              <a:t> of the screen</a:t>
            </a:r>
          </a:p>
          <a:p>
            <a:pPr algn="l">
              <a:spcAft>
                <a:spcPts val="200"/>
              </a:spcAft>
            </a:pPr>
            <a:r>
              <a:rPr sz="1000" b="0" i="0" u="none">
                <a:solidFill>
                  <a:srgbClr val="1A1A1A"/>
                </a:solidFill>
                <a:latin typeface="Arial"/>
              </a:rPr>
              <a:t>5 °/s gimbal ⇒ ≤ 10° slew in 2 s</a:t>
            </a:r>
          </a:p>
          <a:p>
            <a:pPr algn="l">
              <a:spcAft>
                <a:spcPts val="200"/>
              </a:spcAft>
            </a:pPr>
            <a:r>
              <a:rPr sz="1000" b="0" i="0" u="none">
                <a:solidFill>
                  <a:srgbClr val="1A1A1A"/>
                </a:solidFill>
                <a:latin typeface="Arial"/>
              </a:rPr>
              <a:t>Blind raster needs ≈ 40–50° of slew ⇒ </a:t>
            </a:r>
            <a:r>
              <a:rPr sz="1000" b="1" i="0" u="none">
                <a:solidFill>
                  <a:srgbClr val="B71C1C"/>
                </a:solidFill>
                <a:latin typeface="Arial"/>
              </a:rPr>
              <a:t>~8–10 s</a:t>
            </a:r>
          </a:p>
          <a:p>
            <a:pPr algn="l">
              <a:spcAft>
                <a:spcPts val="200"/>
              </a:spcAft>
            </a:pPr>
            <a:r>
              <a:rPr sz="1000" b="0" i="0" u="none">
                <a:solidFill>
                  <a:srgbClr val="1A1A1A"/>
                </a:solidFill>
                <a:latin typeface="Arial"/>
              </a:rPr>
              <a:t>Measured spiral baselines A / B: median </a:t>
            </a:r>
            <a:r>
              <a:rPr sz="1000" b="1" i="0" u="none">
                <a:solidFill>
                  <a:srgbClr val="B71C1C"/>
                </a:solidFill>
                <a:latin typeface="Arial"/>
              </a:rPr>
              <a:t>7.8 / 9.2 s</a:t>
            </a:r>
          </a:p>
          <a:p>
            <a:pPr algn="l">
              <a:spcAft>
                <a:spcPts val="200"/>
              </a:spcAft>
            </a:pPr>
            <a:r>
              <a:rPr sz="1000" b="0" i="0" u="none">
                <a:solidFill>
                  <a:srgbClr val="1A1A1A"/>
                </a:solidFill>
                <a:latin typeface="Arial"/>
              </a:rPr>
              <a:t>PS asks </a:t>
            </a:r>
            <a:r>
              <a:rPr sz="1000" b="1" i="0" u="none">
                <a:solidFill>
                  <a:srgbClr val="B71C1C"/>
                </a:solidFill>
                <a:latin typeface="Arial"/>
              </a:rPr>
              <a:t>≤ 2 s</a:t>
            </a:r>
            <a:r>
              <a:rPr sz="1000" b="0" i="0" u="none">
                <a:solidFill>
                  <a:srgbClr val="1A1A1A"/>
                </a:solidFill>
                <a:latin typeface="Arial"/>
              </a:rPr>
              <a:t> from a random start</a:t>
            </a:r>
          </a:p>
        </p:txBody>
      </p:sp>
      <p:sp>
        <p:nvSpPr>
          <p:cNvPr id="15372" name="Rounded Rectangle 15371"/>
          <p:cNvSpPr/>
          <p:nvPr/>
        </p:nvSpPr>
        <p:spPr>
          <a:xfrm>
            <a:off x="457200" y="4096512"/>
            <a:ext cx="3429000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8C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100"/>
              </a:spcAft>
            </a:pPr>
            <a:r>
              <a:rPr sz="1150" b="1" i="0" u="none">
                <a:solidFill>
                  <a:srgbClr val="1F497D"/>
                </a:solidFill>
                <a:latin typeface="Arial"/>
              </a:rPr>
              <a:t>Detecting a bright spot is easy. </a:t>
            </a:r>
            <a:r>
              <a:rPr sz="1150" b="0" i="0" u="none">
                <a:solidFill>
                  <a:srgbClr val="1A1A1A"/>
                </a:solidFill>
                <a:latin typeface="Arial"/>
              </a:rPr>
              <a:t>Knowing </a:t>
            </a:r>
            <a:r>
              <a:rPr sz="1150" b="1" i="0" u="none">
                <a:solidFill>
                  <a:srgbClr val="C55A11"/>
                </a:solidFill>
                <a:latin typeface="Arial"/>
              </a:rPr>
              <a:t>where to look</a:t>
            </a:r>
            <a:r>
              <a:rPr sz="1150" b="0" i="0" u="none">
                <a:solidFill>
                  <a:srgbClr val="1A1A1A"/>
                </a:solidFill>
                <a:latin typeface="Arial"/>
              </a:rPr>
              <a:t> is the real problem.</a:t>
            </a:r>
          </a:p>
        </p:txBody>
      </p:sp>
      <p:sp>
        <p:nvSpPr>
          <p:cNvPr id="15373" name="Rounded Rectangle 15372"/>
          <p:cNvSpPr/>
          <p:nvPr/>
        </p:nvSpPr>
        <p:spPr>
          <a:xfrm>
            <a:off x="4114800" y="1810512"/>
            <a:ext cx="4114800" cy="2852928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5374" name="Rounded Rectangle 15373"/>
          <p:cNvSpPr/>
          <p:nvPr/>
        </p:nvSpPr>
        <p:spPr>
          <a:xfrm>
            <a:off x="4206240" y="1883664"/>
            <a:ext cx="3066897" cy="237744"/>
          </a:xfrm>
          <a:prstGeom prst="roundRect">
            <a:avLst>
              <a:gd name="adj" fmla="val 30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>
            <a:noAutofit/>
          </a:bodyPr>
          <a:lstStyle/>
          <a:p>
            <a:pPr algn="ctr">
              <a:spcAft>
                <a:spcPts val="100"/>
              </a:spcAft>
            </a:pPr>
            <a:r>
              <a:rPr sz="1050" b="1" i="0" u="none">
                <a:solidFill>
                  <a:srgbClr val="FFFFFF"/>
                </a:solidFill>
                <a:latin typeface="Arial"/>
              </a:rPr>
              <a:t>Detailed explanation — the closed loop</a:t>
            </a:r>
          </a:p>
        </p:txBody>
      </p:sp>
      <p:sp>
        <p:nvSpPr>
          <p:cNvPr id="15375" name="Rounded Rectangle 15374"/>
          <p:cNvSpPr/>
          <p:nvPr/>
        </p:nvSpPr>
        <p:spPr>
          <a:xfrm>
            <a:off x="4251960" y="2633472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 u="none">
                <a:solidFill>
                  <a:srgbClr val="1F497D"/>
                </a:solidFill>
                <a:latin typeface="Arial"/>
              </a:rPr>
              <a:t>Camera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555B66"/>
                </a:solidFill>
                <a:latin typeface="Arial"/>
              </a:rPr>
              <a:t>640×480 · 30 Hz
FOV 1× / 2× / 3×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5577840" y="2633472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 u="none">
                <a:solidFill>
                  <a:srgbClr val="1F497D"/>
                </a:solidFill>
                <a:latin typeface="Arial"/>
              </a:rPr>
              <a:t>Detect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555B66"/>
                </a:solidFill>
                <a:latin typeface="Arial"/>
              </a:rPr>
              <a:t>MF-CFAR +
CNN verifier</a:t>
            </a:r>
          </a:p>
        </p:txBody>
      </p:sp>
      <p:sp>
        <p:nvSpPr>
          <p:cNvPr id="15377" name="Rounded Rectangle 15376"/>
          <p:cNvSpPr/>
          <p:nvPr/>
        </p:nvSpPr>
        <p:spPr>
          <a:xfrm>
            <a:off x="6903720" y="2633472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 u="none">
                <a:solidFill>
                  <a:srgbClr val="1F497D"/>
                </a:solidFill>
                <a:latin typeface="Arial"/>
              </a:rPr>
              <a:t>Estimate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555B66"/>
                </a:solidFill>
                <a:latin typeface="Arial"/>
              </a:rPr>
              <a:t>IMM · jitter-
aware noise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4251960" y="3685031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 u="none">
                <a:solidFill>
                  <a:srgbClr val="1F497D"/>
                </a:solidFill>
                <a:latin typeface="Arial"/>
              </a:rPr>
              <a:t>Gimbal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555B66"/>
                </a:solidFill>
                <a:latin typeface="Arial"/>
              </a:rPr>
              <a:t>rate-limited
5 °/s</a:t>
            </a:r>
          </a:p>
        </p:txBody>
      </p:sp>
      <p:sp>
        <p:nvSpPr>
          <p:cNvPr id="15379" name="Rounded Rectangle 15378"/>
          <p:cNvSpPr/>
          <p:nvPr/>
        </p:nvSpPr>
        <p:spPr>
          <a:xfrm>
            <a:off x="5577840" y="3685031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 u="none">
                <a:solidFill>
                  <a:srgbClr val="1F497D"/>
                </a:solidFill>
                <a:latin typeface="Arial"/>
              </a:rPr>
              <a:t>Control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555B66"/>
                </a:solidFill>
                <a:latin typeface="Arial"/>
              </a:rPr>
              <a:t>predictive +
IMU feed-fwd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6903720" y="3685031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DEEE3"/>
          </a:solidFill>
          <a:ln w="1905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 u="none">
                <a:solidFill>
                  <a:srgbClr val="C55A11"/>
                </a:solidFill>
                <a:latin typeface="Arial"/>
              </a:rPr>
              <a:t>Belief + planner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555B66"/>
                </a:solidFill>
                <a:latin typeface="Arial"/>
              </a:rPr>
              <a:t>where &amp; how
wide to look</a:t>
            </a:r>
          </a:p>
        </p:txBody>
      </p:sp>
      <p:cxnSp>
        <p:nvCxnSpPr>
          <p:cNvPr id="15381" name="Connector 15380"/>
          <p:cNvCxnSpPr/>
          <p:nvPr/>
        </p:nvCxnSpPr>
        <p:spPr>
          <a:xfrm>
            <a:off x="5440680" y="2916936"/>
            <a:ext cx="137160" cy="0"/>
          </a:xfrm>
          <a:prstGeom prst="line">
            <a:avLst/>
          </a:prstGeom>
          <a:ln w="22225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82" name="Connector 15381"/>
          <p:cNvCxnSpPr/>
          <p:nvPr/>
        </p:nvCxnSpPr>
        <p:spPr>
          <a:xfrm flipH="1">
            <a:off x="5440680" y="3968495"/>
            <a:ext cx="137160" cy="0"/>
          </a:xfrm>
          <a:prstGeom prst="line">
            <a:avLst/>
          </a:prstGeom>
          <a:ln w="22225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83" name="Connector 15382"/>
          <p:cNvCxnSpPr/>
          <p:nvPr/>
        </p:nvCxnSpPr>
        <p:spPr>
          <a:xfrm>
            <a:off x="6766560" y="2916936"/>
            <a:ext cx="137160" cy="0"/>
          </a:xfrm>
          <a:prstGeom prst="line">
            <a:avLst/>
          </a:prstGeom>
          <a:ln w="22225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84" name="Connector 15383"/>
          <p:cNvCxnSpPr/>
          <p:nvPr/>
        </p:nvCxnSpPr>
        <p:spPr>
          <a:xfrm flipH="1">
            <a:off x="6766560" y="3968495"/>
            <a:ext cx="137160" cy="0"/>
          </a:xfrm>
          <a:prstGeom prst="line">
            <a:avLst/>
          </a:prstGeom>
          <a:ln w="22225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85" name="Connector 15384"/>
          <p:cNvCxnSpPr/>
          <p:nvPr/>
        </p:nvCxnSpPr>
        <p:spPr>
          <a:xfrm>
            <a:off x="7498080" y="3200400"/>
            <a:ext cx="0" cy="484631"/>
          </a:xfrm>
          <a:prstGeom prst="line">
            <a:avLst/>
          </a:prstGeom>
          <a:ln w="22225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86" name="Connector 15385"/>
          <p:cNvCxnSpPr/>
          <p:nvPr/>
        </p:nvCxnSpPr>
        <p:spPr>
          <a:xfrm flipV="1">
            <a:off x="4846320" y="3200400"/>
            <a:ext cx="0" cy="484631"/>
          </a:xfrm>
          <a:prstGeom prst="line">
            <a:avLst/>
          </a:prstGeom>
          <a:ln w="22225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87" name="TextBox 15386"/>
          <p:cNvSpPr txBox="1"/>
          <p:nvPr/>
        </p:nvSpPr>
        <p:spPr>
          <a:xfrm>
            <a:off x="4206240" y="2176272"/>
            <a:ext cx="3931920" cy="402336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 u="none">
                <a:solidFill>
                  <a:srgbClr val="B71C1C"/>
                </a:solidFill>
                <a:latin typeface="Arial"/>
              </a:rPr>
              <a:t>▼ disturbances in: noise · jitter · fog/haze/rain · platform motion</a:t>
            </a:r>
          </a:p>
          <a:p>
            <a:pPr algn="l">
              <a:spcAft>
                <a:spcPts val="0"/>
              </a:spcAft>
            </a:pPr>
            <a:r>
              <a:rPr sz="900" b="0" i="0" u="none">
                <a:solidFill>
                  <a:srgbClr val="9A6700"/>
                </a:solidFill>
                <a:latin typeface="Arial"/>
              </a:rPr>
              <a:t>▼ or evaluator .mp4 video (Benchmark-2): PTZ bypassed</a:t>
            </a:r>
          </a:p>
        </p:txBody>
      </p:sp>
      <p:sp>
        <p:nvSpPr>
          <p:cNvPr id="15388" name="TextBox 15387"/>
          <p:cNvSpPr txBox="1"/>
          <p:nvPr/>
        </p:nvSpPr>
        <p:spPr>
          <a:xfrm>
            <a:off x="5532120" y="3273552"/>
            <a:ext cx="1280160" cy="384048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50" b="1" i="0" u="none">
                <a:solidFill>
                  <a:srgbClr val="1F497D"/>
                </a:solidFill>
                <a:latin typeface="Arial"/>
              </a:rPr>
              <a:t>SEARCH → TRACK →</a:t>
            </a:r>
          </a:p>
          <a:p>
            <a:pPr algn="ctr">
              <a:spcAft>
                <a:spcPts val="0"/>
              </a:spcAft>
            </a:pPr>
            <a:r>
              <a:rPr sz="850" b="1" i="0" u="none">
                <a:solidFill>
                  <a:srgbClr val="1F497D"/>
                </a:solidFill>
                <a:latin typeface="Arial"/>
              </a:rPr>
              <a:t>LOSS → RE-ACQUIRE</a:t>
            </a:r>
          </a:p>
        </p:txBody>
      </p:sp>
      <p:sp>
        <p:nvSpPr>
          <p:cNvPr id="15389" name="TextBox 15388"/>
          <p:cNvSpPr txBox="1"/>
          <p:nvPr/>
        </p:nvSpPr>
        <p:spPr>
          <a:xfrm>
            <a:off x="4206240" y="4352544"/>
            <a:ext cx="3931920" cy="27432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 i="0" u="none">
                <a:solidFill>
                  <a:srgbClr val="2E7D32"/>
                </a:solidFill>
                <a:latin typeface="Arial"/>
              </a:rPr>
              <a:t>Out: per-frame truth-based metrics → CSV · JSON · HTML report (auto)</a:t>
            </a:r>
          </a:p>
        </p:txBody>
      </p:sp>
      <p:sp>
        <p:nvSpPr>
          <p:cNvPr id="15390" name="Rounded Rectangle 15389"/>
          <p:cNvSpPr/>
          <p:nvPr/>
        </p:nvSpPr>
        <p:spPr>
          <a:xfrm>
            <a:off x="8366760" y="1810512"/>
            <a:ext cx="3474720" cy="2852928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5391" name="Rounded Rectangle 15390"/>
          <p:cNvSpPr/>
          <p:nvPr/>
        </p:nvSpPr>
        <p:spPr>
          <a:xfrm>
            <a:off x="8458200" y="1883664"/>
            <a:ext cx="2080260" cy="237744"/>
          </a:xfrm>
          <a:prstGeom prst="roundRect">
            <a:avLst>
              <a:gd name="adj" fmla="val 30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>
            <a:noAutofit/>
          </a:bodyPr>
          <a:lstStyle/>
          <a:p>
            <a:pPr algn="ctr">
              <a:spcAft>
                <a:spcPts val="100"/>
              </a:spcAft>
            </a:pPr>
            <a:r>
              <a:rPr sz="1050" b="1" i="0" u="none">
                <a:solidFill>
                  <a:srgbClr val="FFFFFF"/>
                </a:solidFill>
                <a:latin typeface="Arial"/>
              </a:rPr>
              <a:t>Innovation and uniqueness</a:t>
            </a:r>
          </a:p>
        </p:txBody>
      </p:sp>
      <p:sp>
        <p:nvSpPr>
          <p:cNvPr id="15392" name="Oval 15391"/>
          <p:cNvSpPr/>
          <p:nvPr/>
        </p:nvSpPr>
        <p:spPr>
          <a:xfrm>
            <a:off x="8458200" y="2258568"/>
            <a:ext cx="310896" cy="310896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100"/>
              </a:spcAft>
            </a:pPr>
            <a:r>
              <a:rPr sz="1200" b="1" i="0" u="none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393" name="TextBox 15392"/>
          <p:cNvSpPr txBox="1"/>
          <p:nvPr/>
        </p:nvSpPr>
        <p:spPr>
          <a:xfrm>
            <a:off x="8823960" y="2203704"/>
            <a:ext cx="2944368" cy="82296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sz="1200" b="1" i="0" u="none">
                <a:solidFill>
                  <a:srgbClr val="1F497D"/>
                </a:solidFill>
                <a:latin typeface="Arial"/>
              </a:rPr>
              <a:t>Belief-driven search</a:t>
            </a:r>
          </a:p>
          <a:p>
            <a:pPr algn="l">
              <a:spcAft>
                <a:spcPts val="100"/>
              </a:spcAft>
            </a:pPr>
            <a:r>
              <a:rPr sz="1050" b="0" i="0" u="none">
                <a:solidFill>
                  <a:srgbClr val="1A1A1A"/>
                </a:solidFill>
                <a:latin typeface="Arial"/>
              </a:rPr>
              <a:t>every empty frame is evidence: probability is removed where the beacon was not seen; next look = best P(detect) per second</a:t>
            </a:r>
          </a:p>
        </p:txBody>
      </p:sp>
      <p:sp>
        <p:nvSpPr>
          <p:cNvPr id="15394" name="Oval 15393"/>
          <p:cNvSpPr/>
          <p:nvPr/>
        </p:nvSpPr>
        <p:spPr>
          <a:xfrm>
            <a:off x="8458200" y="3063240"/>
            <a:ext cx="310896" cy="310896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100"/>
              </a:spcAft>
            </a:pPr>
            <a:r>
              <a:rPr sz="1200" b="1" i="0" u="none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395" name="TextBox 15394"/>
          <p:cNvSpPr txBox="1"/>
          <p:nvPr/>
        </p:nvSpPr>
        <p:spPr>
          <a:xfrm>
            <a:off x="8823960" y="3008376"/>
            <a:ext cx="2944368" cy="82296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sz="1200" b="1" i="0" u="none">
                <a:solidFill>
                  <a:srgbClr val="1F497D"/>
                </a:solidFill>
                <a:latin typeface="Arial"/>
              </a:rPr>
              <a:t>Disturbance-aware FOV</a:t>
            </a:r>
          </a:p>
          <a:p>
            <a:pPr algn="l">
              <a:spcAft>
                <a:spcPts val="100"/>
              </a:spcAft>
            </a:pPr>
            <a:r>
              <a:rPr sz="1050" b="0" i="0" u="none">
                <a:solidFill>
                  <a:srgbClr val="1A1A1A"/>
                </a:solidFill>
                <a:latin typeface="Arial"/>
              </a:rPr>
              <a:t>FOV (1×/2×/3×) chosen by predicted detection probability from the measured noise: go wide only when the beacon stays detectable</a:t>
            </a:r>
          </a:p>
        </p:txBody>
      </p:sp>
      <p:sp>
        <p:nvSpPr>
          <p:cNvPr id="15396" name="Oval 15395"/>
          <p:cNvSpPr/>
          <p:nvPr/>
        </p:nvSpPr>
        <p:spPr>
          <a:xfrm>
            <a:off x="8458200" y="3867912"/>
            <a:ext cx="310896" cy="310896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100"/>
              </a:spcAft>
            </a:pPr>
            <a:r>
              <a:rPr sz="1200" b="1" i="0" u="none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397" name="TextBox 15396"/>
          <p:cNvSpPr txBox="1"/>
          <p:nvPr/>
        </p:nvSpPr>
        <p:spPr>
          <a:xfrm>
            <a:off x="8823960" y="3813048"/>
            <a:ext cx="2944368" cy="82296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sz="1200" b="1" i="0" u="none">
                <a:solidFill>
                  <a:srgbClr val="1F497D"/>
                </a:solidFill>
                <a:latin typeface="Arial"/>
              </a:rPr>
              <a:t>One belief, whole lifecycle</a:t>
            </a:r>
          </a:p>
          <a:p>
            <a:pPr algn="l">
              <a:spcAft>
                <a:spcPts val="100"/>
              </a:spcAft>
            </a:pPr>
            <a:r>
              <a:rPr sz="1050" b="0" i="0" u="none">
                <a:solidFill>
                  <a:srgbClr val="1A1A1A"/>
                </a:solidFill>
                <a:latin typeface="Arial"/>
              </a:rPr>
              <a:t>on loss the search restarts from the tracker's prediction; jitter-aware estimator stops the gimbal chasing jitter</a:t>
            </a:r>
          </a:p>
        </p:txBody>
      </p:sp>
      <p:graphicFrame>
        <p:nvGraphicFramePr>
          <p:cNvPr id="15398" name="Table 15397"/>
          <p:cNvGraphicFramePr>
            <a:graphicFrameLocks noGrp="1"/>
          </p:cNvGraphicFramePr>
          <p:nvPr/>
        </p:nvGraphicFramePr>
        <p:xfrm>
          <a:off x="365760" y="4754879"/>
          <a:ext cx="11475720" cy="124358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337560"/>
                <a:gridCol w="4069080"/>
                <a:gridCol w="406908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FFFFFF"/>
                          </a:solidFill>
                          <a:latin typeface="Arial"/>
                        </a:rPr>
                        <a:t>Typical public approach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FFFFFF"/>
                          </a:solidFill>
                          <a:latin typeface="Arial"/>
                        </a:rPr>
                        <a:t>Limitation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FFFFFF"/>
                          </a:solidFill>
                          <a:latin typeface="Arial"/>
                        </a:rPr>
                        <a:t>ANVESHA approach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1A1A1A"/>
                          </a:solidFill>
                          <a:latin typeface="Arial"/>
                        </a:rPr>
                        <a:t>Fixed spiral / raster at base FOV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 u="none">
                          <a:solidFill>
                            <a:srgbClr val="1A1A1A"/>
                          </a:solidFill>
                          <a:latin typeface="Arial"/>
                        </a:rPr>
                        <a:t>Open loop; ignores empty frames; ~8–10 s worst case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1A1A1A"/>
                          </a:solidFill>
                          <a:latin typeface="Arial"/>
                        </a:rPr>
                        <a:t>Recursive Bayesian belief + next-best-look planner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DEEE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1A1A1A"/>
                          </a:solidFill>
                          <a:latin typeface="Arial"/>
                        </a:rPr>
                        <a:t>Wide-FOV mode switched by a fixed rule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 u="none">
                          <a:solidFill>
                            <a:srgbClr val="1A1A1A"/>
                          </a:solidFill>
                          <a:latin typeface="Arial"/>
                        </a:rPr>
                        <a:t>SNR loss of a wider FOV is not modelled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1A1A1A"/>
                          </a:solidFill>
                          <a:latin typeface="Arial"/>
                        </a:rPr>
                        <a:t>FOV picked from a measured-noise detection model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DEEE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1A1A1A"/>
                          </a:solidFill>
                          <a:latin typeface="Arial"/>
                        </a:rPr>
                        <a:t>Re-acquire = restart spiral / Kalman coast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 u="none">
                          <a:solidFill>
                            <a:srgbClr val="1A1A1A"/>
                          </a:solidFill>
                          <a:latin typeface="Arial"/>
                        </a:rPr>
                        <a:t>Throws away what the tracker knew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1A1A1A"/>
                          </a:solidFill>
                          <a:latin typeface="Arial"/>
                        </a:rPr>
                        <a:t>Belief re-seeded from IMM predicted mean &amp; covariance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DEEE3"/>
                    </a:solidFill>
                  </a:tcPr>
                </a:tc>
              </a:tr>
            </a:tbl>
          </a:graphicData>
        </a:graphic>
      </p:graphicFrame>
      <p:sp>
        <p:nvSpPr>
          <p:cNvPr id="15399" name="TextBox 15398"/>
          <p:cNvSpPr txBox="1"/>
          <p:nvPr/>
        </p:nvSpPr>
        <p:spPr>
          <a:xfrm>
            <a:off x="365760" y="6053328"/>
            <a:ext cx="11475720" cy="27432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1" u="none">
                <a:solidFill>
                  <a:srgbClr val="555B66"/>
                </a:solidFill>
                <a:latin typeface="Arial"/>
              </a:rPr>
              <a:t>Based on our review of 134 papers and 20 public SIH26169 repositories, we did not identify a coarse-PAT system that combines these three elements.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566160" y="6356353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en-US" b="1">
                <a:solidFill>
                  <a:srgbClr val="FFFFFF"/>
                </a:solidFill>
              </a:rPr>
              <a:t>@ Regnum Carya  ·  ANVESHA  ·  SIH26169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18288" rIns="18288" tIns="10972" bIns="10972">
            <a:noAutofit/>
          </a:bodyPr>
          <a:lstStyle/>
          <a:p>
            <a:pPr algn="ctr"/>
            <a:r>
              <a:rPr sz="1050" b="1" i="0" u="none">
                <a:solidFill>
                  <a:srgbClr val="1F497D"/>
                </a:solidFill>
                <a:latin typeface="Arial"/>
              </a:rPr>
              <a:t>Regnum Carya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960120"/>
            <a:ext cx="1124712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marL="219456" indent="-219456">
              <a:buFont typeface="Wingdings" pitchFamily="2" charset="2"/>
              <a:buChar char="v"/>
            </a:pPr>
            <a:r>
              <a:rPr sz="1400" b="1" i="0" u="sng">
                <a:solidFill>
                  <a:srgbClr val="1F497D"/>
                </a:solidFill>
                <a:latin typeface="Arial"/>
              </a:rPr>
              <a:t>Methodology and process for implementation (Flow Charts/Images/ working prototype)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344168"/>
            <a:ext cx="1188720" cy="237744"/>
          </a:xfrm>
          <a:prstGeom prst="roundRect">
            <a:avLst>
              <a:gd name="adj" fmla="val 30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>
            <a:noAutofit/>
          </a:bodyPr>
          <a:lstStyle/>
          <a:p>
            <a:pPr algn="ctr">
              <a:spcAft>
                <a:spcPts val="100"/>
              </a:spcAft>
            </a:pPr>
            <a:r>
              <a:rPr sz="1000" b="1" i="0" u="none">
                <a:solidFill>
                  <a:srgbClr val="FFFFFF"/>
                </a:solidFill>
                <a:latin typeface="Arial"/>
              </a:rPr>
              <a:t>SYSTEM FLOW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1600200" y="1325880"/>
            <a:ext cx="10058400" cy="27432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 i="0" u="none">
                <a:solidFill>
                  <a:srgbClr val="555B66"/>
                </a:solidFill>
                <a:latin typeface="Arial"/>
              </a:rPr>
              <a:t>INPUT  →  PERCEPTION  →  AI VERIFY  →  ESTIMATION  →  BELIEF SEARCH  →  CONTROL / OUTPUT     (every box below exists in the running prototype)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65760" y="1847088"/>
            <a:ext cx="1714499" cy="932688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1" i="0" u="none">
                <a:solidFill>
                  <a:srgbClr val="FFFFFF"/>
                </a:solidFill>
                <a:latin typeface="Arial"/>
              </a:rPr>
              <a:t>01  INPUT</a:t>
            </a:r>
          </a:p>
          <a:p>
            <a:pPr algn="ctr">
              <a:spcAft>
                <a:spcPts val="0"/>
              </a:spcAft>
            </a:pPr>
            <a:r>
              <a:rPr sz="1150" b="1" i="0" u="none">
                <a:solidFill>
                  <a:srgbClr val="FFFFFF"/>
                </a:solidFill>
                <a:latin typeface="Arial"/>
              </a:rPr>
              <a:t>Virtual FPA camera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FFFFFF"/>
                </a:solidFill>
                <a:latin typeface="Arial"/>
              </a:rPr>
              <a:t>640×480 · 30 Hz · 4°×3°
zoom 1×/2×/3×</a:t>
            </a:r>
          </a:p>
        </p:txBody>
      </p:sp>
      <p:cxnSp>
        <p:nvCxnSpPr>
          <p:cNvPr id="17414" name="Connector 17413"/>
          <p:cNvCxnSpPr/>
          <p:nvPr/>
        </p:nvCxnSpPr>
        <p:spPr>
          <a:xfrm>
            <a:off x="2080260" y="2313432"/>
            <a:ext cx="237743" cy="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5" name="Rounded Rectangle 17414"/>
          <p:cNvSpPr/>
          <p:nvPr/>
        </p:nvSpPr>
        <p:spPr>
          <a:xfrm>
            <a:off x="2318003" y="1847088"/>
            <a:ext cx="1714499" cy="932688"/>
          </a:xfrm>
          <a:prstGeom prst="roundRect">
            <a:avLst>
              <a:gd name="adj" fmla="val 10000"/>
            </a:avLst>
          </a:prstGeom>
          <a:solidFill>
            <a:srgbClr val="1F497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1" i="0" u="none">
                <a:solidFill>
                  <a:srgbClr val="FFFFFF"/>
                </a:solidFill>
                <a:latin typeface="Arial"/>
              </a:rPr>
              <a:t>02  PERCEPTION</a:t>
            </a:r>
          </a:p>
          <a:p>
            <a:pPr algn="ctr">
              <a:spcAft>
                <a:spcPts val="0"/>
              </a:spcAft>
            </a:pPr>
            <a:r>
              <a:rPr sz="1150" b="1" i="0" u="none">
                <a:solidFill>
                  <a:srgbClr val="FFFFFF"/>
                </a:solidFill>
                <a:latin typeface="Arial"/>
              </a:rPr>
              <a:t>MF-CFAR detector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FFFFFF"/>
                </a:solidFill>
                <a:latin typeface="Arial"/>
              </a:rPr>
              <a:t>noise-adaptive median
sub-pixel IW-CoG</a:t>
            </a:r>
          </a:p>
        </p:txBody>
      </p:sp>
      <p:cxnSp>
        <p:nvCxnSpPr>
          <p:cNvPr id="17416" name="Connector 17415"/>
          <p:cNvCxnSpPr/>
          <p:nvPr/>
        </p:nvCxnSpPr>
        <p:spPr>
          <a:xfrm>
            <a:off x="4032503" y="2313432"/>
            <a:ext cx="237745" cy="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7" name="Rounded Rectangle 17416"/>
          <p:cNvSpPr/>
          <p:nvPr/>
        </p:nvSpPr>
        <p:spPr>
          <a:xfrm>
            <a:off x="4270248" y="1847088"/>
            <a:ext cx="1714499" cy="932688"/>
          </a:xfrm>
          <a:prstGeom prst="roundRect">
            <a:avLst>
              <a:gd name="adj" fmla="val 10000"/>
            </a:avLst>
          </a:prstGeom>
          <a:solidFill>
            <a:srgbClr val="9A670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1" i="0" u="none">
                <a:solidFill>
                  <a:srgbClr val="FFFFFF"/>
                </a:solidFill>
                <a:latin typeface="Arial"/>
              </a:rPr>
              <a:t>03  AI VERIFY</a:t>
            </a:r>
          </a:p>
          <a:p>
            <a:pPr algn="ctr">
              <a:spcAft>
                <a:spcPts val="0"/>
              </a:spcAft>
            </a:pPr>
            <a:r>
              <a:rPr sz="1150" b="1" i="0" u="none">
                <a:solidFill>
                  <a:srgbClr val="FFFFFF"/>
                </a:solidFill>
                <a:latin typeface="Arial"/>
              </a:rPr>
              <a:t>BeaconNet (ONNX)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FFFFFF"/>
                </a:solidFill>
                <a:latin typeface="Arial"/>
              </a:rPr>
              <a:t>6.8 k-param CNN
veto-only fusion</a:t>
            </a:r>
          </a:p>
        </p:txBody>
      </p:sp>
      <p:cxnSp>
        <p:nvCxnSpPr>
          <p:cNvPr id="17418" name="Connector 17417"/>
          <p:cNvCxnSpPr/>
          <p:nvPr/>
        </p:nvCxnSpPr>
        <p:spPr>
          <a:xfrm>
            <a:off x="5984748" y="2313432"/>
            <a:ext cx="237744" cy="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9" name="Rounded Rectangle 17418"/>
          <p:cNvSpPr/>
          <p:nvPr/>
        </p:nvSpPr>
        <p:spPr>
          <a:xfrm>
            <a:off x="6222492" y="1847088"/>
            <a:ext cx="1714499" cy="932688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1" i="0" u="none">
                <a:solidFill>
                  <a:srgbClr val="FFFFFF"/>
                </a:solidFill>
                <a:latin typeface="Arial"/>
              </a:rPr>
              <a:t>04  ESTIMATION</a:t>
            </a:r>
          </a:p>
          <a:p>
            <a:pPr algn="ctr">
              <a:spcAft>
                <a:spcPts val="0"/>
              </a:spcAft>
            </a:pPr>
            <a:r>
              <a:rPr sz="1150" b="1" i="0" u="none">
                <a:solidFill>
                  <a:srgbClr val="FFFFFF"/>
                </a:solidFill>
                <a:latin typeface="Arial"/>
              </a:rPr>
              <a:t>IMM tracker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FFFFFF"/>
                </a:solidFill>
                <a:latin typeface="Arial"/>
              </a:rPr>
              <a:t>CV / CA / manoeuvre
jitter-aware noise</a:t>
            </a:r>
          </a:p>
        </p:txBody>
      </p:sp>
      <p:cxnSp>
        <p:nvCxnSpPr>
          <p:cNvPr id="17420" name="Connector 17419"/>
          <p:cNvCxnSpPr/>
          <p:nvPr/>
        </p:nvCxnSpPr>
        <p:spPr>
          <a:xfrm>
            <a:off x="7936992" y="2313432"/>
            <a:ext cx="237744" cy="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1" name="Rounded Rectangle 17420"/>
          <p:cNvSpPr/>
          <p:nvPr/>
        </p:nvSpPr>
        <p:spPr>
          <a:xfrm>
            <a:off x="8174736" y="1847088"/>
            <a:ext cx="1714499" cy="932688"/>
          </a:xfrm>
          <a:prstGeom prst="roundRect">
            <a:avLst>
              <a:gd name="adj" fmla="val 10000"/>
            </a:avLst>
          </a:prstGeom>
          <a:solidFill>
            <a:srgbClr val="C55A11"/>
          </a:solidFill>
          <a:ln w="28575">
            <a:solidFill>
              <a:srgbClr val="7A33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1" i="0" u="none">
                <a:solidFill>
                  <a:srgbClr val="FFFFFF"/>
                </a:solidFill>
                <a:latin typeface="Arial"/>
              </a:rPr>
              <a:t>05  BELIEF SEARCH</a:t>
            </a:r>
          </a:p>
          <a:p>
            <a:pPr algn="ctr">
              <a:spcAft>
                <a:spcPts val="0"/>
              </a:spcAft>
            </a:pPr>
            <a:r>
              <a:rPr sz="1150" b="1" i="0" u="none">
                <a:solidFill>
                  <a:srgbClr val="FFFFFF"/>
                </a:solidFill>
                <a:latin typeface="Arial"/>
              </a:rPr>
              <a:t>where + how wide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FFFFFF"/>
                </a:solidFill>
                <a:latin typeface="Arial"/>
              </a:rPr>
              <a:t>Bayes miss-update
Pd(FOV) planner · core</a:t>
            </a:r>
          </a:p>
        </p:txBody>
      </p:sp>
      <p:cxnSp>
        <p:nvCxnSpPr>
          <p:cNvPr id="17422" name="Connector 17421"/>
          <p:cNvCxnSpPr/>
          <p:nvPr/>
        </p:nvCxnSpPr>
        <p:spPr>
          <a:xfrm>
            <a:off x="9889236" y="2313432"/>
            <a:ext cx="237744" cy="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3" name="Rounded Rectangle 17422"/>
          <p:cNvSpPr/>
          <p:nvPr/>
        </p:nvSpPr>
        <p:spPr>
          <a:xfrm>
            <a:off x="10126980" y="1847088"/>
            <a:ext cx="1714499" cy="932688"/>
          </a:xfrm>
          <a:prstGeom prst="roundRect">
            <a:avLst>
              <a:gd name="adj" fmla="val 10000"/>
            </a:avLst>
          </a:prstGeom>
          <a:solidFill>
            <a:srgbClr val="B71C1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1" i="0" u="none">
                <a:solidFill>
                  <a:srgbClr val="FFFFFF"/>
                </a:solidFill>
                <a:latin typeface="Arial"/>
              </a:rPr>
              <a:t>06  CONTROL</a:t>
            </a:r>
          </a:p>
          <a:p>
            <a:pPr algn="ctr">
              <a:spcAft>
                <a:spcPts val="0"/>
              </a:spcAft>
            </a:pPr>
            <a:r>
              <a:rPr sz="1150" b="1" i="0" u="none">
                <a:solidFill>
                  <a:srgbClr val="FFFFFF"/>
                </a:solidFill>
                <a:latin typeface="Arial"/>
              </a:rPr>
              <a:t>pan/tilt rate cmd</a:t>
            </a:r>
          </a:p>
          <a:p>
            <a:pPr algn="ctr">
              <a:spcAft>
                <a:spcPts val="0"/>
              </a:spcAft>
            </a:pPr>
            <a:r>
              <a:rPr sz="850" b="0" i="0" u="none">
                <a:solidFill>
                  <a:srgbClr val="FFFFFF"/>
                </a:solidFill>
                <a:latin typeface="Arial"/>
              </a:rPr>
              <a:t>target + IMU feed-fwd
≤ 5 °/s · 60 Hz</a:t>
            </a:r>
          </a:p>
        </p:txBody>
      </p:sp>
      <p:cxnSp>
        <p:nvCxnSpPr>
          <p:cNvPr id="17424" name="Connector 17423"/>
          <p:cNvCxnSpPr/>
          <p:nvPr/>
        </p:nvCxnSpPr>
        <p:spPr>
          <a:xfrm flipV="1">
            <a:off x="10984230" y="1719072"/>
            <a:ext cx="0" cy="128016"/>
          </a:xfrm>
          <a:prstGeom prst="line">
            <a:avLst/>
          </a:prstGeom>
          <a:ln w="15875">
            <a:solidFill>
              <a:srgbClr val="B7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5" name="Connector 17424"/>
          <p:cNvCxnSpPr/>
          <p:nvPr/>
        </p:nvCxnSpPr>
        <p:spPr>
          <a:xfrm flipH="1">
            <a:off x="1223010" y="1719072"/>
            <a:ext cx="9761220" cy="0"/>
          </a:xfrm>
          <a:prstGeom prst="line">
            <a:avLst/>
          </a:prstGeom>
          <a:ln w="15875">
            <a:solidFill>
              <a:srgbClr val="B7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6" name="Connector 17425"/>
          <p:cNvCxnSpPr/>
          <p:nvPr/>
        </p:nvCxnSpPr>
        <p:spPr>
          <a:xfrm>
            <a:off x="1223010" y="1719072"/>
            <a:ext cx="0" cy="128016"/>
          </a:xfrm>
          <a:prstGeom prst="line">
            <a:avLst/>
          </a:prstGeom>
          <a:ln w="15875">
            <a:solidFill>
              <a:srgbClr val="B71C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7" name="TextBox 17426"/>
          <p:cNvSpPr txBox="1"/>
          <p:nvPr/>
        </p:nvSpPr>
        <p:spPr>
          <a:xfrm>
            <a:off x="4453128" y="1700784"/>
            <a:ext cx="4572000" cy="18288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1" u="none">
                <a:solidFill>
                  <a:srgbClr val="B71C1C"/>
                </a:solidFill>
                <a:latin typeface="Arial"/>
              </a:rPr>
              <a:t>closed loop: gimbal re-points the camera → next frame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365760" y="2834640"/>
            <a:ext cx="1280160" cy="237744"/>
          </a:xfrm>
          <a:prstGeom prst="roundRect">
            <a:avLst>
              <a:gd name="adj" fmla="val 30000"/>
            </a:avLst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>
            <a:noAutofit/>
          </a:bodyPr>
          <a:lstStyle/>
          <a:p>
            <a:pPr algn="ctr">
              <a:spcAft>
                <a:spcPts val="100"/>
              </a:spcAft>
            </a:pPr>
            <a:r>
              <a:rPr sz="900" b="1" i="0" u="none">
                <a:solidFill>
                  <a:srgbClr val="FFFFFF"/>
                </a:solidFill>
                <a:latin typeface="Arial"/>
              </a:rPr>
              <a:t>SIDE BRANCHES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365760" y="3127248"/>
            <a:ext cx="1714499" cy="566928"/>
          </a:xfrm>
          <a:prstGeom prst="roundRect">
            <a:avLst>
              <a:gd name="adj" fmla="val 10000"/>
            </a:avLst>
          </a:prstGeom>
          <a:solidFill>
            <a:srgbClr val="FFF4D6"/>
          </a:solidFill>
          <a:ln w="12700">
            <a:solidFill>
              <a:srgbClr val="9A67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950" b="1" i="0" u="none">
                <a:solidFill>
                  <a:srgbClr val="9A6700"/>
                </a:solidFill>
                <a:latin typeface="Arial"/>
              </a:rPr>
              <a:t>Disturbance engine</a:t>
            </a:r>
          </a:p>
          <a:p>
            <a:pPr algn="ctr">
              <a:spcAft>
                <a:spcPts val="0"/>
              </a:spcAft>
            </a:pPr>
            <a:r>
              <a:rPr sz="750" b="0" i="0" u="none">
                <a:solidFill>
                  <a:srgbClr val="1A1A1A"/>
                </a:solidFill>
                <a:latin typeface="Arial"/>
              </a:rPr>
              <a:t>noise · jitter · haze/fog/rain
low light · turbulence</a:t>
            </a:r>
          </a:p>
        </p:txBody>
      </p:sp>
      <p:cxnSp>
        <p:nvCxnSpPr>
          <p:cNvPr id="17430" name="Connector 17429"/>
          <p:cNvCxnSpPr/>
          <p:nvPr/>
        </p:nvCxnSpPr>
        <p:spPr>
          <a:xfrm flipV="1">
            <a:off x="1223010" y="2779776"/>
            <a:ext cx="0" cy="347472"/>
          </a:xfrm>
          <a:prstGeom prst="line">
            <a:avLst/>
          </a:prstGeom>
          <a:ln w="15875">
            <a:solidFill>
              <a:srgbClr val="9A67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1" name="Rounded Rectangle 17430"/>
          <p:cNvSpPr/>
          <p:nvPr/>
        </p:nvSpPr>
        <p:spPr>
          <a:xfrm>
            <a:off x="2318003" y="3127248"/>
            <a:ext cx="1714499" cy="566928"/>
          </a:xfrm>
          <a:prstGeom prst="roundRect">
            <a:avLst>
              <a:gd name="adj" fmla="val 10000"/>
            </a:avLst>
          </a:prstGeom>
          <a:solidFill>
            <a:srgbClr val="FFF4D6"/>
          </a:solidFill>
          <a:ln w="12700">
            <a:solidFill>
              <a:srgbClr val="9A67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950" b="1" i="0" u="none">
                <a:solidFill>
                  <a:srgbClr val="9A6700"/>
                </a:solidFill>
                <a:latin typeface="Arial"/>
              </a:rPr>
              <a:t>Evaluator .mp4 (B-2)</a:t>
            </a:r>
          </a:p>
          <a:p>
            <a:pPr algn="ctr">
              <a:spcAft>
                <a:spcPts val="0"/>
              </a:spcAft>
            </a:pPr>
            <a:r>
              <a:rPr sz="750" b="0" i="0" u="none">
                <a:solidFill>
                  <a:srgbClr val="1A1A1A"/>
                </a:solidFill>
                <a:latin typeface="Arial"/>
              </a:rPr>
              <a:t>PTZ bypassed · raw centroid
logged per frame</a:t>
            </a:r>
          </a:p>
        </p:txBody>
      </p:sp>
      <p:cxnSp>
        <p:nvCxnSpPr>
          <p:cNvPr id="17432" name="Connector 17431"/>
          <p:cNvCxnSpPr/>
          <p:nvPr/>
        </p:nvCxnSpPr>
        <p:spPr>
          <a:xfrm flipV="1">
            <a:off x="3175253" y="2779776"/>
            <a:ext cx="0" cy="347472"/>
          </a:xfrm>
          <a:prstGeom prst="line">
            <a:avLst/>
          </a:prstGeom>
          <a:ln w="15875">
            <a:solidFill>
              <a:srgbClr val="9A67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3" name="Rounded Rectangle 17432"/>
          <p:cNvSpPr/>
          <p:nvPr/>
        </p:nvSpPr>
        <p:spPr>
          <a:xfrm>
            <a:off x="6222492" y="3127248"/>
            <a:ext cx="1714499" cy="566928"/>
          </a:xfrm>
          <a:prstGeom prst="roundRect">
            <a:avLst>
              <a:gd name="adj" fmla="val 10000"/>
            </a:avLst>
          </a:prstGeom>
          <a:solidFill>
            <a:srgbClr val="E6F3E7"/>
          </a:solidFill>
          <a:ln w="12700">
            <a:solidFill>
              <a:srgbClr val="2E7D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950" b="1" i="0" u="none">
                <a:solidFill>
                  <a:srgbClr val="2E7D32"/>
                </a:solidFill>
                <a:latin typeface="Arial"/>
              </a:rPr>
              <a:t>Platform IMU</a:t>
            </a:r>
          </a:p>
          <a:p>
            <a:pPr algn="ctr">
              <a:spcAft>
                <a:spcPts val="0"/>
              </a:spcAft>
            </a:pPr>
            <a:r>
              <a:rPr sz="750" b="0" i="0" u="none">
                <a:solidFill>
                  <a:srgbClr val="1A1A1A"/>
                </a:solidFill>
                <a:latin typeface="Arial"/>
              </a:rPr>
              <a:t>gyro rate → estimator
&amp; controller feed-forward</a:t>
            </a:r>
          </a:p>
        </p:txBody>
      </p:sp>
      <p:cxnSp>
        <p:nvCxnSpPr>
          <p:cNvPr id="17434" name="Connector 17433"/>
          <p:cNvCxnSpPr/>
          <p:nvPr/>
        </p:nvCxnSpPr>
        <p:spPr>
          <a:xfrm flipV="1">
            <a:off x="7079742" y="2779776"/>
            <a:ext cx="0" cy="347472"/>
          </a:xfrm>
          <a:prstGeom prst="line">
            <a:avLst/>
          </a:prstGeom>
          <a:ln w="15875">
            <a:solidFill>
              <a:srgbClr val="2E7D3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5" name="Rounded Rectangle 17434"/>
          <p:cNvSpPr/>
          <p:nvPr/>
        </p:nvSpPr>
        <p:spPr>
          <a:xfrm>
            <a:off x="8174736" y="3127248"/>
            <a:ext cx="1714499" cy="566928"/>
          </a:xfrm>
          <a:prstGeom prst="roundRect">
            <a:avLst>
              <a:gd name="adj" fmla="val 10000"/>
            </a:avLst>
          </a:prstGeom>
          <a:solidFill>
            <a:srgbClr val="EAF2FA"/>
          </a:solidFill>
          <a:ln w="12700">
            <a:solidFill>
              <a:srgbClr val="0070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950" b="1" i="0" u="none">
                <a:solidFill>
                  <a:srgbClr val="0070C0"/>
                </a:solidFill>
                <a:latin typeface="Arial"/>
              </a:rPr>
              <a:t>Mission-control GUI</a:t>
            </a:r>
          </a:p>
          <a:p>
            <a:pPr algn="ctr">
              <a:spcAft>
                <a:spcPts val="0"/>
              </a:spcAft>
            </a:pPr>
            <a:r>
              <a:rPr sz="750" b="0" i="0" u="none">
                <a:solidFill>
                  <a:srgbClr val="1A1A1A"/>
                </a:solidFill>
                <a:latin typeface="Arial"/>
              </a:rPr>
              <a:t>WebSocket · 2D/3D world
belief map · telemetry</a:t>
            </a:r>
          </a:p>
        </p:txBody>
      </p:sp>
      <p:cxnSp>
        <p:nvCxnSpPr>
          <p:cNvPr id="17436" name="Connector 17435"/>
          <p:cNvCxnSpPr/>
          <p:nvPr/>
        </p:nvCxnSpPr>
        <p:spPr>
          <a:xfrm>
            <a:off x="9031986" y="2779776"/>
            <a:ext cx="0" cy="347472"/>
          </a:xfrm>
          <a:prstGeom prst="line">
            <a:avLst/>
          </a:prstGeom>
          <a:ln w="15875">
            <a:solidFill>
              <a:srgbClr val="0070C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7" name="Rounded Rectangle 17436"/>
          <p:cNvSpPr/>
          <p:nvPr/>
        </p:nvSpPr>
        <p:spPr>
          <a:xfrm>
            <a:off x="10126980" y="3127248"/>
            <a:ext cx="1714499" cy="566928"/>
          </a:xfrm>
          <a:prstGeom prst="roundRect">
            <a:avLst>
              <a:gd name="adj" fmla="val 10000"/>
            </a:avLst>
          </a:prstGeom>
          <a:solidFill>
            <a:srgbClr val="E6F3E7"/>
          </a:solidFill>
          <a:ln w="12700">
            <a:solidFill>
              <a:srgbClr val="2E7D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>
            <a:noAutofit/>
          </a:bodyPr>
          <a:lstStyle/>
          <a:p>
            <a:pPr algn="ctr">
              <a:spcAft>
                <a:spcPts val="0"/>
              </a:spcAft>
            </a:pPr>
            <a:r>
              <a:rPr sz="950" b="1" i="0" u="none">
                <a:solidFill>
                  <a:srgbClr val="2E7D32"/>
                </a:solidFill>
                <a:latin typeface="Arial"/>
              </a:rPr>
              <a:t>Metrics + auto report</a:t>
            </a:r>
          </a:p>
          <a:p>
            <a:pPr algn="ctr">
              <a:spcAft>
                <a:spcPts val="0"/>
              </a:spcAft>
            </a:pPr>
            <a:r>
              <a:rPr sz="750" b="0" i="0" u="none">
                <a:solidFill>
                  <a:srgbClr val="1A1A1A"/>
                </a:solidFill>
                <a:latin typeface="Arial"/>
              </a:rPr>
              <a:t>truth-only · CSV · JSON
HTML/PDF each run</a:t>
            </a:r>
          </a:p>
        </p:txBody>
      </p:sp>
      <p:cxnSp>
        <p:nvCxnSpPr>
          <p:cNvPr id="17438" name="Connector 17437"/>
          <p:cNvCxnSpPr/>
          <p:nvPr/>
        </p:nvCxnSpPr>
        <p:spPr>
          <a:xfrm>
            <a:off x="10984230" y="2779776"/>
            <a:ext cx="0" cy="347472"/>
          </a:xfrm>
          <a:prstGeom prst="line">
            <a:avLst/>
          </a:prstGeom>
          <a:ln w="15875">
            <a:solidFill>
              <a:srgbClr val="2E7D3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9" name="TextBox 17438"/>
          <p:cNvSpPr txBox="1"/>
          <p:nvPr/>
        </p:nvSpPr>
        <p:spPr>
          <a:xfrm>
            <a:off x="365760" y="3703320"/>
            <a:ext cx="3931920" cy="27432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 i="0" u="none">
                <a:solidFill>
                  <a:srgbClr val="1F497D"/>
                </a:solidFill>
                <a:latin typeface="Arial"/>
              </a:rPr>
              <a:t>How it runs — 5 steps per frame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365760" y="4014216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100"/>
              </a:spcAft>
            </a:pPr>
            <a:r>
              <a:rPr sz="1000" b="1" i="0" u="none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822960" y="3986784"/>
            <a:ext cx="3520440" cy="45720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Simulate</a:t>
            </a:r>
          </a:p>
          <a:p>
            <a:pPr algn="l">
              <a:spcAft>
                <a:spcPts val="0"/>
              </a:spcAft>
            </a:pPr>
            <a:r>
              <a:rPr sz="850" b="0" i="0" u="none">
                <a:solidFill>
                  <a:srgbClr val="555B66"/>
                </a:solidFill>
                <a:latin typeface="Arial"/>
              </a:rPr>
              <a:t>240 Hz physics; scenario YAML + seed → bit-reproducible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365760" y="4443984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100"/>
              </a:spcAft>
            </a:pPr>
            <a:r>
              <a:rPr sz="1000" b="1" i="0" u="none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822960" y="4416552"/>
            <a:ext cx="3520440" cy="45720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Detect</a:t>
            </a:r>
          </a:p>
          <a:p>
            <a:pPr algn="l">
              <a:spcAft>
                <a:spcPts val="0"/>
              </a:spcAft>
            </a:pPr>
            <a:r>
              <a:rPr sz="850" b="0" i="0" u="none">
                <a:solidFill>
                  <a:srgbClr val="555B66"/>
                </a:solidFill>
                <a:latin typeface="Arial"/>
              </a:rPr>
              <a:t>MF-CFAR on robust noise estimate; CNN can only veto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365760" y="4873752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100"/>
              </a:spcAft>
            </a:pPr>
            <a:r>
              <a:rPr sz="1000" b="1" i="0" u="none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822960" y="4846320"/>
            <a:ext cx="3520440" cy="45720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Track</a:t>
            </a:r>
          </a:p>
          <a:p>
            <a:pPr algn="l">
              <a:spcAft>
                <a:spcPts val="0"/>
              </a:spcAft>
            </a:pPr>
            <a:r>
              <a:rPr sz="850" b="0" i="0" u="none">
                <a:solidFill>
                  <a:srgbClr val="555B66"/>
                </a:solidFill>
                <a:latin typeface="Arial"/>
              </a:rPr>
              <a:t>IMM in gimbal frame; jitter separated from motion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365760" y="530352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100"/>
              </a:spcAft>
            </a:pPr>
            <a:r>
              <a:rPr sz="1000" b="1" i="0" u="none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822960" y="5276088"/>
            <a:ext cx="3520440" cy="45720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Decide where to look</a:t>
            </a:r>
          </a:p>
          <a:p>
            <a:pPr algn="l">
              <a:spcAft>
                <a:spcPts val="0"/>
              </a:spcAft>
            </a:pPr>
            <a:r>
              <a:rPr sz="850" b="0" i="0" u="none">
                <a:solidFill>
                  <a:srgbClr val="555B66"/>
                </a:solidFill>
                <a:latin typeface="Arial"/>
              </a:rPr>
              <a:t>joint position × detectability belief → look + FOV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365760" y="573328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100"/>
              </a:spcAft>
            </a:pPr>
            <a:r>
              <a:rPr sz="1000" b="1" i="0" u="none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822960" y="5705855"/>
            <a:ext cx="3520440" cy="45720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Steer &amp; log</a:t>
            </a:r>
          </a:p>
          <a:p>
            <a:pPr algn="l">
              <a:spcAft>
                <a:spcPts val="0"/>
              </a:spcAft>
            </a:pPr>
            <a:r>
              <a:rPr sz="850" b="0" i="0" u="none">
                <a:solidFill>
                  <a:srgbClr val="555B66"/>
                </a:solidFill>
                <a:latin typeface="Arial"/>
              </a:rPr>
              <a:t>rate-limited control; truth-based metrics &amp; report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4572000" y="3703320"/>
            <a:ext cx="3474720" cy="27432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1" i="0" u="none">
                <a:solidFill>
                  <a:srgbClr val="1F497D"/>
                </a:solidFill>
                <a:latin typeface="Arial"/>
              </a:rPr>
              <a:t>Working prototype — live mission-control GUI</a:t>
            </a:r>
          </a:p>
        </p:txBody>
      </p:sp>
      <p:pic>
        <p:nvPicPr>
          <p:cNvPr id="17451" name="Picture 17450" descr="gui_tr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014216"/>
            <a:ext cx="3474720" cy="2241194"/>
          </a:xfrm>
          <a:prstGeom prst="rect">
            <a:avLst/>
          </a:prstGeom>
          <a:ln w="9525">
            <a:solidFill>
              <a:srgbClr val="B8C4D3"/>
            </a:solidFill>
          </a:ln>
        </p:spPr>
      </p:pic>
      <p:sp>
        <p:nvSpPr>
          <p:cNvPr id="17452" name="TextBox 17451"/>
          <p:cNvSpPr txBox="1"/>
          <p:nvPr/>
        </p:nvSpPr>
        <p:spPr>
          <a:xfrm>
            <a:off x="8458200" y="368503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marL="219456" indent="-219456">
              <a:buFont typeface="Wingdings" pitchFamily="2" charset="2"/>
              <a:buChar char="v"/>
            </a:pPr>
            <a:r>
              <a:rPr sz="1250" b="1" i="0" u="sng">
                <a:solidFill>
                  <a:srgbClr val="1F497D"/>
                </a:solidFill>
                <a:latin typeface="Arial"/>
              </a:rPr>
              <a:t>Technologies to be used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8458200" y="4014216"/>
            <a:ext cx="1636776" cy="274320"/>
          </a:xfrm>
          <a:prstGeom prst="roundRect">
            <a:avLst>
              <a:gd name="adj" fmla="val 25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>
            <a:noAutofit/>
          </a:bodyPr>
          <a:lstStyle/>
          <a:p>
            <a:pPr algn="ctr">
              <a:spcAft>
                <a:spcPts val="100"/>
              </a:spcAft>
            </a:pPr>
            <a:r>
              <a:rPr sz="950" b="1" i="0" u="none">
                <a:solidFill>
                  <a:srgbClr val="FFFFFF"/>
                </a:solidFill>
                <a:latin typeface="Arial"/>
              </a:rPr>
              <a:t>Python 3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10204704" y="4014216"/>
            <a:ext cx="1636776" cy="274320"/>
          </a:xfrm>
          <a:prstGeom prst="roundRect">
            <a:avLst>
              <a:gd name="adj" fmla="val 25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>
            <a:noAutofit/>
          </a:bodyPr>
          <a:lstStyle/>
          <a:p>
            <a:pPr algn="ctr">
              <a:spcAft>
                <a:spcPts val="100"/>
              </a:spcAft>
            </a:pPr>
            <a:r>
              <a:rPr sz="950" b="1" i="0" u="none">
                <a:solidFill>
                  <a:srgbClr val="FFFFFF"/>
                </a:solidFill>
                <a:latin typeface="Arial"/>
              </a:rPr>
              <a:t>NumPy · SciPy</a:t>
            </a:r>
          </a:p>
        </p:txBody>
      </p:sp>
      <p:sp>
        <p:nvSpPr>
          <p:cNvPr id="17455" name="Rounded Rectangle 17454"/>
          <p:cNvSpPr/>
          <p:nvPr/>
        </p:nvSpPr>
        <p:spPr>
          <a:xfrm>
            <a:off x="8458200" y="4361688"/>
            <a:ext cx="1636776" cy="274320"/>
          </a:xfrm>
          <a:prstGeom prst="roundRect">
            <a:avLst>
              <a:gd name="adj" fmla="val 25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>
            <a:noAutofit/>
          </a:bodyPr>
          <a:lstStyle/>
          <a:p>
            <a:pPr algn="ctr">
              <a:spcAft>
                <a:spcPts val="100"/>
              </a:spcAft>
            </a:pPr>
            <a:r>
              <a:rPr sz="950" b="1" i="0" u="none">
                <a:solidFill>
                  <a:srgbClr val="FFFFFF"/>
                </a:solidFill>
                <a:latin typeface="Arial"/>
              </a:rPr>
              <a:t>OpenCV</a:t>
            </a:r>
          </a:p>
        </p:txBody>
      </p:sp>
      <p:sp>
        <p:nvSpPr>
          <p:cNvPr id="17456" name="Rounded Rectangle 17455"/>
          <p:cNvSpPr/>
          <p:nvPr/>
        </p:nvSpPr>
        <p:spPr>
          <a:xfrm>
            <a:off x="10204704" y="4361688"/>
            <a:ext cx="1636776" cy="274320"/>
          </a:xfrm>
          <a:prstGeom prst="roundRect">
            <a:avLst>
              <a:gd name="adj" fmla="val 25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>
            <a:noAutofit/>
          </a:bodyPr>
          <a:lstStyle/>
          <a:p>
            <a:pPr algn="ctr">
              <a:spcAft>
                <a:spcPts val="100"/>
              </a:spcAft>
            </a:pPr>
            <a:r>
              <a:rPr sz="950" b="1" i="0" u="none">
                <a:solidFill>
                  <a:srgbClr val="FFFFFF"/>
                </a:solidFill>
                <a:latin typeface="Arial"/>
              </a:rPr>
              <a:t>ONNX Runtime</a:t>
            </a:r>
          </a:p>
        </p:txBody>
      </p:sp>
      <p:sp>
        <p:nvSpPr>
          <p:cNvPr id="17457" name="Rounded Rectangle 17456"/>
          <p:cNvSpPr/>
          <p:nvPr/>
        </p:nvSpPr>
        <p:spPr>
          <a:xfrm>
            <a:off x="8458200" y="4709160"/>
            <a:ext cx="1636776" cy="274320"/>
          </a:xfrm>
          <a:prstGeom prst="roundRect">
            <a:avLst>
              <a:gd name="adj" fmla="val 25000"/>
            </a:avLst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>
            <a:noAutofit/>
          </a:bodyPr>
          <a:lstStyle/>
          <a:p>
            <a:pPr algn="ctr">
              <a:spcAft>
                <a:spcPts val="100"/>
              </a:spcAft>
            </a:pPr>
            <a:r>
              <a:rPr sz="950" b="1" i="0" u="none">
                <a:solidFill>
                  <a:srgbClr val="FFFFFF"/>
                </a:solidFill>
                <a:latin typeface="Arial"/>
              </a:rPr>
              <a:t>PyTorch (train)</a:t>
            </a:r>
          </a:p>
        </p:txBody>
      </p:sp>
      <p:sp>
        <p:nvSpPr>
          <p:cNvPr id="17458" name="Rounded Rectangle 17457"/>
          <p:cNvSpPr/>
          <p:nvPr/>
        </p:nvSpPr>
        <p:spPr>
          <a:xfrm>
            <a:off x="10204704" y="4709160"/>
            <a:ext cx="1636776" cy="274320"/>
          </a:xfrm>
          <a:prstGeom prst="roundRect">
            <a:avLst>
              <a:gd name="adj" fmla="val 25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>
            <a:noAutofit/>
          </a:bodyPr>
          <a:lstStyle/>
          <a:p>
            <a:pPr algn="ctr">
              <a:spcAft>
                <a:spcPts val="100"/>
              </a:spcAft>
            </a:pPr>
            <a:r>
              <a:rPr sz="950" b="1" i="0" u="none">
                <a:solidFill>
                  <a:srgbClr val="FFFFFF"/>
                </a:solidFill>
                <a:latin typeface="Arial"/>
              </a:rPr>
              <a:t>FastAPI + WebSocket</a:t>
            </a:r>
          </a:p>
        </p:txBody>
      </p:sp>
      <p:sp>
        <p:nvSpPr>
          <p:cNvPr id="17459" name="Rounded Rectangle 17458"/>
          <p:cNvSpPr/>
          <p:nvPr/>
        </p:nvSpPr>
        <p:spPr>
          <a:xfrm>
            <a:off x="8458200" y="5056632"/>
            <a:ext cx="1636776" cy="274320"/>
          </a:xfrm>
          <a:prstGeom prst="roundRect">
            <a:avLst>
              <a:gd name="adj" fmla="val 25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>
            <a:noAutofit/>
          </a:bodyPr>
          <a:lstStyle/>
          <a:p>
            <a:pPr algn="ctr">
              <a:spcAft>
                <a:spcPts val="100"/>
              </a:spcAft>
            </a:pPr>
            <a:r>
              <a:rPr sz="950" b="1" i="0" u="none">
                <a:solidFill>
                  <a:srgbClr val="FFFFFF"/>
                </a:solidFill>
                <a:latin typeface="Arial"/>
              </a:rPr>
              <a:t>HTML/JS · three.js</a:t>
            </a:r>
          </a:p>
        </p:txBody>
      </p:sp>
      <p:sp>
        <p:nvSpPr>
          <p:cNvPr id="17460" name="Rounded Rectangle 17459"/>
          <p:cNvSpPr/>
          <p:nvPr/>
        </p:nvSpPr>
        <p:spPr>
          <a:xfrm>
            <a:off x="10204704" y="5056632"/>
            <a:ext cx="1636776" cy="274320"/>
          </a:xfrm>
          <a:prstGeom prst="roundRect">
            <a:avLst>
              <a:gd name="adj" fmla="val 25000"/>
            </a:avLst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>
            <a:noAutofit/>
          </a:bodyPr>
          <a:lstStyle/>
          <a:p>
            <a:pPr algn="ctr">
              <a:spcAft>
                <a:spcPts val="100"/>
              </a:spcAft>
            </a:pPr>
            <a:r>
              <a:rPr sz="950" b="1" i="0" u="none">
                <a:solidFill>
                  <a:srgbClr val="FFFFFF"/>
                </a:solidFill>
                <a:latin typeface="Arial"/>
              </a:rPr>
              <a:t>PyInstaller .exe</a:t>
            </a:r>
          </a:p>
        </p:txBody>
      </p:sp>
      <p:sp>
        <p:nvSpPr>
          <p:cNvPr id="17461" name="TextBox 17460"/>
          <p:cNvSpPr txBox="1"/>
          <p:nvPr/>
        </p:nvSpPr>
        <p:spPr>
          <a:xfrm>
            <a:off x="8458200" y="5422392"/>
            <a:ext cx="3383280" cy="109728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 marL="109728" indent="-109728">
              <a:spcAft>
                <a:spcPts val="100"/>
              </a:spcAft>
              <a:buFont typeface="Arial"/>
              <a:buChar char="•"/>
            </a:pPr>
            <a:r>
              <a:rPr sz="850" b="1" i="0" u="none">
                <a:solidFill>
                  <a:srgbClr val="1F497D"/>
                </a:solidFill>
                <a:latin typeface="Arial"/>
              </a:rPr>
              <a:t>Why: </a:t>
            </a:r>
            <a:r>
              <a:rPr sz="850" b="0" i="0" u="none">
                <a:solidFill>
                  <a:srgbClr val="1A1A1A"/>
                </a:solidFill>
                <a:latin typeface="Arial"/>
              </a:rPr>
              <a:t>vectorised CPU pipeline hits ≥ 51 FPS on a laptop, no GPU needed</a:t>
            </a:r>
          </a:p>
          <a:p>
            <a:pPr algn="l" marL="109728" indent="-109728">
              <a:spcAft>
                <a:spcPts val="100"/>
              </a:spcAft>
              <a:buFont typeface="Arial"/>
              <a:buChar char="•"/>
            </a:pPr>
            <a:r>
              <a:rPr sz="850" b="1" i="0" u="none">
                <a:solidFill>
                  <a:srgbClr val="1F497D"/>
                </a:solidFill>
                <a:latin typeface="Arial"/>
              </a:rPr>
              <a:t>One engine </a:t>
            </a:r>
            <a:r>
              <a:rPr sz="850" b="0" i="0" u="none">
                <a:solidFill>
                  <a:srgbClr val="1A1A1A"/>
                </a:solidFill>
                <a:latin typeface="Arial"/>
              </a:rPr>
              <a:t>feeds GUI, benchmarks and reports — no separate demo path</a:t>
            </a:r>
          </a:p>
          <a:p>
            <a:pPr algn="l" marL="109728" indent="-109728">
              <a:spcAft>
                <a:spcPts val="100"/>
              </a:spcAft>
              <a:buFont typeface="Arial"/>
              <a:buChar char="•"/>
            </a:pPr>
            <a:r>
              <a:rPr sz="850" b="1" i="0" u="none">
                <a:solidFill>
                  <a:srgbClr val="1F497D"/>
                </a:solidFill>
                <a:latin typeface="Arial"/>
              </a:rPr>
              <a:t>Offline &amp; portable: </a:t>
            </a:r>
            <a:r>
              <a:rPr sz="850" b="0" i="0" u="none">
                <a:solidFill>
                  <a:srgbClr val="1A1A1A"/>
                </a:solidFill>
                <a:latin typeface="Arial"/>
              </a:rPr>
              <a:t>browser GUI, no build step; Windows .exe spec ready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566160" y="6356353"/>
            <a:ext cx="50292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 Regnum Carya  ·  ANVESHA  ·  SIH26169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18288" rIns="18288" tIns="10972" bIns="10972">
            <a:noAutofit/>
          </a:bodyPr>
          <a:lstStyle/>
          <a:p>
            <a:pPr algn="ctr"/>
            <a:r>
              <a:rPr sz="1050" b="1" i="0" u="none">
                <a:solidFill>
                  <a:srgbClr val="1F497D"/>
                </a:solidFill>
                <a:latin typeface="Arial"/>
              </a:rPr>
              <a:t>Regnum Carya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987552"/>
            <a:ext cx="813816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marL="219456" indent="-219456">
              <a:buFont typeface="Wingdings" pitchFamily="2" charset="2"/>
              <a:buChar char="v"/>
            </a:pPr>
            <a:r>
              <a:rPr sz="1500" b="1" i="0" u="sng">
                <a:solidFill>
                  <a:srgbClr val="1F497D"/>
                </a:solidFill>
                <a:latin typeface="Arial"/>
              </a:rPr>
              <a:t>Analysis of the feasibility of the idea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365760" y="1298448"/>
            <a:ext cx="8321040" cy="237744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0" i="1" u="none">
                <a:solidFill>
                  <a:srgbClr val="555B66"/>
                </a:solidFill>
                <a:latin typeface="Arial"/>
              </a:rPr>
              <a:t>Measured in simulation (software-in-the-loop), 3 seeds · 16 scenarios · same seeds for all pipelines · baseline PID gains grid-tuned · laptop CPU only (no GPU used)</a:t>
            </a:r>
          </a:p>
        </p:txBody>
      </p:sp>
      <p:graphicFrame>
        <p:nvGraphicFramePr>
          <p:cNvPr id="17412" name="Table 17411"/>
          <p:cNvGraphicFramePr>
            <a:graphicFrameLocks noGrp="1"/>
          </p:cNvGraphicFramePr>
          <p:nvPr/>
        </p:nvGraphicFramePr>
        <p:xfrm>
          <a:off x="365760" y="1554480"/>
          <a:ext cx="5440680" cy="31089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72768"/>
                <a:gridCol w="804672"/>
                <a:gridCol w="566928"/>
                <a:gridCol w="658368"/>
                <a:gridCol w="548640"/>
                <a:gridCol w="667512"/>
                <a:gridCol w="621792"/>
              </a:tblGrid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Arial"/>
                        </a:rPr>
                        <a:t>ANVESHA · scenario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Arial"/>
                        </a:rPr>
                        <a:t>Acq. ≤2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Arial"/>
                        </a:rPr>
                        <a:t>LOS err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Arial"/>
                        </a:rPr>
                        <a:t>Image err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Arial"/>
                        </a:rPr>
                        <a:t>Loss*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Arial"/>
                        </a:rPr>
                        <a:t>Re-acq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Arial"/>
                        </a:rPr>
                        <a:t>Loop FPS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A  Clean sky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3/3 · 1.3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B  Gaussian σ=20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3/3 · 1.2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1.9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1.9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C  Poisson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3/3 · 1.1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0.8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0.8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D  Salt &amp; pepper 10 %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3/3 · 1.1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6.7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6.7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E  Jitter ±10 px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3/3 · 1.3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4.6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8.9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F  Platform linear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3/3 · 1.1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4.4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4.4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F2 Vibration 7/13 Hz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B71C1C"/>
                          </a:solidFill>
                          <a:latin typeface="Arial"/>
                        </a:rPr>
                        <a:t>2/3 · 1.4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B71C1C"/>
                          </a:solidFill>
                          <a:latin typeface="Arial"/>
                        </a:rPr>
                        <a:t>20.5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B71C1C"/>
                          </a:solidFill>
                          <a:latin typeface="Arial"/>
                        </a:rPr>
                        <a:t>20.5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G  Fog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3/3 · 1.3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H  Haze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3/3 · 1.2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I  Low light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3/3 · 1.2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2.2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2.2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J  Fast manoeuvre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3/3 · 1.3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B71C1C"/>
                          </a:solidFill>
                          <a:latin typeface="Arial"/>
                        </a:rPr>
                        <a:t>18.6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B71C1C"/>
                          </a:solidFill>
                          <a:latin typeface="Arial"/>
                        </a:rPr>
                        <a:t>18.6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K  Occlusion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3/3 · 1.3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B71C1C"/>
                          </a:solidFill>
                          <a:latin typeface="Arial"/>
                        </a:rPr>
                        <a:t>16.2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B71C1C"/>
                          </a:solidFill>
                          <a:latin typeface="Arial"/>
                        </a:rPr>
                        <a:t>16.2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0.10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L  Rain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3/3 · 1.4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1.9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1.9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M  Combined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3/3 · 1.2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4.9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7.8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N  All PS maxima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B71C1C"/>
                          </a:solidFill>
                          <a:latin typeface="Arial"/>
                        </a:rPr>
                        <a:t>0/3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B71C1C"/>
                          </a:solidFill>
                          <a:latin typeface="Arial"/>
                        </a:rPr>
                        <a:t>21.0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B71C1C"/>
                          </a:solidFill>
                          <a:latin typeface="Arial"/>
                        </a:rPr>
                        <a:t>23.6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B71C1C"/>
                          </a:solidFill>
                          <a:latin typeface="Arial"/>
                        </a:rPr>
                        <a:t>99 %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B71C1C"/>
                          </a:solidFill>
                          <a:latin typeface="Arial"/>
                        </a:rPr>
                        <a:t>n/a (1✗)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O  Look-alike distractors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B71C1C"/>
                          </a:solidFill>
                          <a:latin typeface="Arial"/>
                        </a:rPr>
                        <a:t>1/3 · 2.9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0 %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2E7D32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</a:tbl>
          </a:graphicData>
        </a:graphic>
      </p:graphicFrame>
      <p:sp>
        <p:nvSpPr>
          <p:cNvPr id="17413" name="TextBox 17412"/>
          <p:cNvSpPr txBox="1"/>
          <p:nvPr/>
        </p:nvSpPr>
        <p:spPr>
          <a:xfrm>
            <a:off x="365760" y="4754880"/>
            <a:ext cx="5440680" cy="384048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 i="0" u="none">
                <a:solidFill>
                  <a:srgbClr val="1F497D"/>
                </a:solidFill>
                <a:latin typeface="Arial"/>
              </a:rPr>
              <a:t>All PS checks met: </a:t>
            </a:r>
            <a:r>
              <a:rPr sz="950" b="1" i="0" u="none">
                <a:solidFill>
                  <a:srgbClr val="0070C0"/>
                </a:solidFill>
                <a:latin typeface="Arial"/>
              </a:rPr>
              <a:t>ANVESHA 11/16 scenarios</a:t>
            </a:r>
            <a:r>
              <a:rPr sz="950" b="0" i="0" u="none">
                <a:solidFill>
                  <a:srgbClr val="1A1A1A"/>
                </a:solidFill>
                <a:latin typeface="Arial"/>
              </a:rPr>
              <a:t>  ·  baselines A/B/C 0/0/0</a:t>
            </a:r>
          </a:p>
          <a:p>
            <a:pPr algn="l">
              <a:spcAft>
                <a:spcPts val="0"/>
              </a:spcAft>
            </a:pPr>
            <a:r>
              <a:rPr sz="750" b="0" i="0" u="none">
                <a:solidFill>
                  <a:srgbClr val="555B66"/>
                </a:solidFill>
                <a:latin typeface="Arial"/>
              </a:rPr>
              <a:t>Limits: acq ≤ 2 s · error ≤ 10 px · loss &lt; 5 % · re-acq ≤ 1 s · ≥ 20 FPS. *excl. scripted occlusion · LOS = excl. camera jitter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989320" y="1536192"/>
            <a:ext cx="2606040" cy="256032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 u="none">
                <a:solidFill>
                  <a:srgbClr val="1F497D"/>
                </a:solidFill>
                <a:latin typeface="Arial"/>
              </a:rPr>
              <a:t>Same seeds, all pipelines</a:t>
            </a:r>
          </a:p>
        </p:txBody>
      </p:sp>
      <p:pic>
        <p:nvPicPr>
          <p:cNvPr id="17415" name="Picture 17414" descr="acq_le2s_by_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801368"/>
            <a:ext cx="2606040" cy="1459382"/>
          </a:xfrm>
          <a:prstGeom prst="rect">
            <a:avLst/>
          </a:prstGeom>
        </p:spPr>
      </p:pic>
      <p:sp>
        <p:nvSpPr>
          <p:cNvPr id="17416" name="Rounded Rectangle 17415"/>
          <p:cNvSpPr/>
          <p:nvPr/>
        </p:nvSpPr>
        <p:spPr>
          <a:xfrm>
            <a:off x="5989320" y="3401568"/>
            <a:ext cx="2606040" cy="89611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6044183" y="3410712"/>
            <a:ext cx="2514600" cy="886968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 i="0" u="none">
                <a:solidFill>
                  <a:srgbClr val="1F497D"/>
                </a:solidFill>
                <a:latin typeface="Arial"/>
              </a:rPr>
              <a:t>Ablation — remove one part (3 seeds):</a:t>
            </a:r>
          </a:p>
          <a:p>
            <a:pPr algn="l" marL="109728" indent="-109728">
              <a:spcAft>
                <a:spcPts val="0"/>
              </a:spcAft>
              <a:buFont typeface="Arial"/>
              <a:buChar char="•"/>
            </a:pPr>
            <a:r>
              <a:rPr sz="800" b="1" i="0" u="none">
                <a:solidFill>
                  <a:srgbClr val="1A1A1A"/>
                </a:solidFill>
                <a:latin typeface="Arial"/>
              </a:rPr>
              <a:t>belief → spiral search: </a:t>
            </a:r>
            <a:r>
              <a:rPr sz="800" b="0" i="0" u="none">
                <a:solidFill>
                  <a:srgbClr val="1A1A1A"/>
                </a:solidFill>
                <a:latin typeface="Arial"/>
              </a:rPr>
              <a:t>runs ≤ 2 s 83 % → 7 %</a:t>
            </a:r>
          </a:p>
          <a:p>
            <a:pPr algn="l" marL="109728" indent="-109728">
              <a:spcAft>
                <a:spcPts val="0"/>
              </a:spcAft>
              <a:buFont typeface="Arial"/>
              <a:buChar char="•"/>
            </a:pPr>
            <a:r>
              <a:rPr sz="800" b="1" i="0" u="none">
                <a:solidFill>
                  <a:srgbClr val="1A1A1A"/>
                </a:solidFill>
                <a:latin typeface="Arial"/>
              </a:rPr>
              <a:t>adaptive FOV off: </a:t>
            </a:r>
            <a:r>
              <a:rPr sz="800" b="0" i="0" u="none">
                <a:solidFill>
                  <a:srgbClr val="1A1A1A"/>
                </a:solidFill>
                <a:latin typeface="Arial"/>
              </a:rPr>
              <a:t>runs ≤ 2 s 83 % → 20 %</a:t>
            </a:r>
          </a:p>
          <a:p>
            <a:pPr algn="l" marL="109728" indent="-109728">
              <a:spcAft>
                <a:spcPts val="0"/>
              </a:spcAft>
              <a:buFont typeface="Arial"/>
              <a:buChar char="•"/>
            </a:pPr>
            <a:r>
              <a:rPr sz="800" b="1" i="0" u="none">
                <a:solidFill>
                  <a:srgbClr val="1A1A1A"/>
                </a:solidFill>
                <a:latin typeface="Arial"/>
              </a:rPr>
              <a:t>jitter-aware R off (E): </a:t>
            </a:r>
            <a:r>
              <a:rPr sz="800" b="0" i="0" u="none">
                <a:solidFill>
                  <a:srgbClr val="1A1A1A"/>
                </a:solidFill>
                <a:latin typeface="Arial"/>
              </a:rPr>
              <a:t>LOS 4.6 → 19.3 px</a:t>
            </a:r>
          </a:p>
          <a:p>
            <a:pPr algn="l" marL="109728" indent="-109728">
              <a:spcAft>
                <a:spcPts val="0"/>
              </a:spcAft>
              <a:buFont typeface="Arial"/>
              <a:buChar char="•"/>
            </a:pPr>
            <a:r>
              <a:rPr sz="800" b="1" i="0" u="none">
                <a:solidFill>
                  <a:srgbClr val="1A1A1A"/>
                </a:solidFill>
                <a:latin typeface="Arial"/>
              </a:rPr>
              <a:t>IMU feed-fwd off (F): </a:t>
            </a:r>
            <a:r>
              <a:rPr sz="800" b="0" i="0" u="none">
                <a:solidFill>
                  <a:srgbClr val="1A1A1A"/>
                </a:solidFill>
                <a:latin typeface="Arial"/>
              </a:rPr>
              <a:t>LOS 4.4 → 5.8 px</a:t>
            </a:r>
          </a:p>
          <a:p>
            <a:pPr algn="l" marL="109728" indent="-109728">
              <a:spcAft>
                <a:spcPts val="0"/>
              </a:spcAft>
              <a:buFont typeface="Arial"/>
              <a:buChar char="•"/>
            </a:pPr>
            <a:r>
              <a:rPr sz="800" b="1" i="0" u="none">
                <a:solidFill>
                  <a:srgbClr val="1A1A1A"/>
                </a:solidFill>
                <a:latin typeface="Arial"/>
              </a:rPr>
              <a:t>CNN verifier off: </a:t>
            </a:r>
            <a:r>
              <a:rPr sz="800" b="0" i="0" u="none">
                <a:solidFill>
                  <a:srgbClr val="1A1A1A"/>
                </a:solidFill>
                <a:latin typeface="Arial"/>
              </a:rPr>
              <a:t>false-lock frames 614 → 667 (sum)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5989320" y="5422392"/>
            <a:ext cx="2606040" cy="36576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0" i="0" u="none">
                <a:solidFill>
                  <a:srgbClr val="555B66"/>
                </a:solidFill>
                <a:latin typeface="Arial"/>
              </a:rPr>
              <a:t>Median acquisition when acquired: </a:t>
            </a:r>
            <a:r>
              <a:rPr sz="850" b="1" i="0" u="none">
                <a:solidFill>
                  <a:srgbClr val="0070C0"/>
                </a:solidFill>
                <a:latin typeface="Arial"/>
              </a:rPr>
              <a:t>ANVESHA 1.3 s</a:t>
            </a:r>
            <a:r>
              <a:rPr sz="850" b="0" i="0" u="none">
                <a:solidFill>
                  <a:srgbClr val="555B66"/>
                </a:solidFill>
                <a:latin typeface="Arial"/>
              </a:rPr>
              <a:t> · baselines 6.4–9.2 s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5989320" y="4370832"/>
            <a:ext cx="2606040" cy="457200"/>
          </a:xfrm>
          <a:prstGeom prst="roundRect">
            <a:avLst>
              <a:gd name="adj" fmla="val 8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100"/>
              </a:spcAft>
            </a:pPr>
            <a:r>
              <a:rPr sz="850" b="1" i="0" u="none">
                <a:solidFill>
                  <a:srgbClr val="1F497D"/>
                </a:solidFill>
                <a:latin typeface="Arial"/>
              </a:rPr>
              <a:t>Re-acquisition (K, 2 occlusions): </a:t>
            </a:r>
            <a:r>
              <a:rPr sz="850" b="0" i="0" u="none">
                <a:solidFill>
                  <a:srgbClr val="1A1A1A"/>
                </a:solidFill>
                <a:latin typeface="Arial"/>
              </a:rPr>
              <a:t>mean 0.10 s, max 0.27 s, 0 of 6 unrecovered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5989320" y="4882896"/>
            <a:ext cx="2606040" cy="457200"/>
          </a:xfrm>
          <a:prstGeom prst="roundRect">
            <a:avLst>
              <a:gd name="adj" fmla="val 8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100"/>
              </a:spcAft>
            </a:pPr>
            <a:r>
              <a:rPr sz="850" b="1" i="0" u="none">
                <a:solidFill>
                  <a:srgbClr val="9A6700"/>
                </a:solidFill>
                <a:latin typeface="Arial"/>
              </a:rPr>
              <a:t>Benchmark-2 video rehearsal: </a:t>
            </a:r>
            <a:r>
              <a:rPr sz="850" b="0" i="0" u="none">
                <a:solidFill>
                  <a:srgbClr val="1A1A1A"/>
                </a:solidFill>
                <a:latin typeface="Arial"/>
              </a:rPr>
              <a:t>centroid RMSE 0.13 px over 300 frames of 2000×2000 @30 fps; 88 FPS incl. decoding</a:t>
            </a:r>
          </a:p>
        </p:txBody>
      </p:sp>
      <p:graphicFrame>
        <p:nvGraphicFramePr>
          <p:cNvPr id="17421" name="Table 17420"/>
          <p:cNvGraphicFramePr>
            <a:graphicFrameLocks noGrp="1"/>
          </p:cNvGraphicFramePr>
          <p:nvPr/>
        </p:nvGraphicFramePr>
        <p:xfrm>
          <a:off x="8778240" y="1188720"/>
          <a:ext cx="3063240" cy="35112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960120"/>
                <a:gridCol w="2103120"/>
              </a:tblGrid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Arial"/>
                        </a:rPr>
                        <a:t>Potential challenges and risks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Arial"/>
                        </a:rPr>
                        <a:t>Strategies for overcoming these challenges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Sim-to-real gap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video mode already accepts real footage; tracker needs only frames, encoder / IMU and rate commands → HIL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±20 px jitter floor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report LOS vs image error; jitter-aware R; fine stage (FSM) hand-off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Faint beacon, clutter, look-alikes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joint position × detectability belief; CNN veto + shape tests; static look-alike rejection; beacon modulation ID (next)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CPU budget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ROI processing; CNN only on candidate patches; FPS logged each frame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 u="none">
                          <a:solidFill>
                            <a:srgbClr val="1A1A1A"/>
                          </a:solidFill>
                          <a:latin typeface="Arial"/>
                        </a:rPr>
                        <a:t>CNN domain shift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 u="none">
                          <a:solidFill>
                            <a:srgbClr val="1A1A1A"/>
                          </a:solidFill>
                          <a:latin typeface="Arial"/>
                        </a:rPr>
                        <a:t>CNN only verifies; classical MF-CFAR stays primary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422" name="Rounded Rectangle 17421"/>
          <p:cNvSpPr/>
          <p:nvPr/>
        </p:nvSpPr>
        <p:spPr>
          <a:xfrm>
            <a:off x="365760" y="5175504"/>
            <a:ext cx="5440680" cy="1106424"/>
          </a:xfrm>
          <a:prstGeom prst="roundRect">
            <a:avLst>
              <a:gd name="adj" fmla="val 5000"/>
            </a:avLst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438912" y="5230368"/>
            <a:ext cx="2448893" cy="237744"/>
          </a:xfrm>
          <a:prstGeom prst="roundRect">
            <a:avLst>
              <a:gd name="adj" fmla="val 30000"/>
            </a:avLst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>
            <a:noAutofit/>
          </a:bodyPr>
          <a:lstStyle/>
          <a:p>
            <a:pPr algn="ctr">
              <a:spcAft>
                <a:spcPts val="100"/>
              </a:spcAft>
            </a:pPr>
            <a:r>
              <a:rPr sz="950" b="1" i="0" u="none">
                <a:solidFill>
                  <a:srgbClr val="FFFFFF"/>
                </a:solidFill>
                <a:latin typeface="Arial"/>
              </a:rPr>
              <a:t>Measured gaps — shown, not hidden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438912" y="5477256"/>
            <a:ext cx="5330952" cy="804672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 marL="118872" indent="-118872">
              <a:spcAft>
                <a:spcPts val="0"/>
              </a:spcAft>
              <a:buFont typeface="Arial"/>
              <a:buChar char="•"/>
            </a:pPr>
            <a:r>
              <a:rPr sz="850" b="1" i="0" u="none">
                <a:solidFill>
                  <a:srgbClr val="1A1A1A"/>
                </a:solidFill>
                <a:latin typeface="Arial"/>
              </a:rPr>
              <a:t>All PS maxima at once (N): </a:t>
            </a:r>
            <a:r>
              <a:rPr sz="850" b="0" i="0" u="none">
                <a:solidFill>
                  <a:srgbClr val="1A1A1A"/>
                </a:solidFill>
                <a:latin typeface="Arial"/>
              </a:rPr>
              <a:t>acquired in 33 % of runs; look-alikes (O) acquired in 2.9 s (&gt; 2 s) — rejecting static look-alikes costs time.</a:t>
            </a:r>
          </a:p>
          <a:p>
            <a:pPr algn="l" marL="118872" indent="-118872">
              <a:spcAft>
                <a:spcPts val="0"/>
              </a:spcAft>
              <a:buFont typeface="Arial"/>
              <a:buChar char="•"/>
            </a:pPr>
            <a:r>
              <a:rPr sz="850" b="1" i="0" u="none">
                <a:solidFill>
                  <a:srgbClr val="1A1A1A"/>
                </a:solidFill>
                <a:latin typeface="Arial"/>
              </a:rPr>
              <a:t>LOS error </a:t>
            </a:r>
            <a:r>
              <a:rPr sz="850" b="0" i="0" u="none">
                <a:solidFill>
                  <a:srgbClr val="1A1A1A"/>
                </a:solidFill>
                <a:latin typeface="Arial"/>
              </a:rPr>
              <a:t>16–21 px (&gt; 10) under vibration, fast manoeuvre, occlusion.</a:t>
            </a:r>
          </a:p>
          <a:p>
            <a:pPr algn="l" marL="118872" indent="-118872">
              <a:spcAft>
                <a:spcPts val="0"/>
              </a:spcAft>
              <a:buFont typeface="Arial"/>
              <a:buChar char="•"/>
            </a:pPr>
            <a:r>
              <a:rPr sz="850" b="1" i="0" u="none">
                <a:solidFill>
                  <a:srgbClr val="1A1A1A"/>
                </a:solidFill>
                <a:latin typeface="Arial"/>
              </a:rPr>
              <a:t>Jitter floor: </a:t>
            </a:r>
            <a:r>
              <a:rPr sz="850" b="0" i="0" u="none">
                <a:solidFill>
                  <a:srgbClr val="1A1A1A"/>
                </a:solidFill>
                <a:latin typeface="Arial"/>
              </a:rPr>
              <a:t>±20 px white jitter alone = 16.3 px RMS (analytic) — no coarse gimbal can meet 10 px image error. At ±10 px (E): image 8.9 vs LOS 4.6 px.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8778240" y="5065776"/>
            <a:ext cx="3063240" cy="237744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 i="0" u="none">
                <a:solidFill>
                  <a:srgbClr val="1F497D"/>
                </a:solidFill>
                <a:latin typeface="Arial"/>
              </a:rPr>
              <a:t>Implementation status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8778240" y="5321807"/>
            <a:ext cx="896112" cy="246888"/>
          </a:xfrm>
          <a:prstGeom prst="roundRect">
            <a:avLst>
              <a:gd name="adj" fmla="val 30000"/>
            </a:avLst>
          </a:prstGeom>
          <a:solidFill>
            <a:srgbClr val="E6F3E7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5486" bIns="5486">
            <a:noAutofit/>
          </a:bodyPr>
          <a:lstStyle/>
          <a:p>
            <a:pPr algn="ctr">
              <a:spcAft>
                <a:spcPts val="100"/>
              </a:spcAft>
            </a:pPr>
            <a:r>
              <a:rPr sz="850" b="1" i="0" u="none">
                <a:solidFill>
                  <a:srgbClr val="2E7D32"/>
                </a:solidFill>
                <a:latin typeface="Arial"/>
              </a:rPr>
              <a:t>Implemented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9720072" y="5276088"/>
            <a:ext cx="2121408" cy="347472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 u="none">
                <a:solidFill>
                  <a:srgbClr val="1A1A1A"/>
                </a:solidFill>
                <a:latin typeface="Arial"/>
              </a:rPr>
              <a:t>sim, 16 scenarios, 4 pipelines, belief search, IMM, GUI, video mode, reports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8778240" y="5614416"/>
            <a:ext cx="896112" cy="246888"/>
          </a:xfrm>
          <a:prstGeom prst="roundRect">
            <a:avLst>
              <a:gd name="adj" fmla="val 30000"/>
            </a:avLst>
          </a:prstGeom>
          <a:solidFill>
            <a:srgbClr val="FFF4D6"/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5486" bIns="5486">
            <a:noAutofit/>
          </a:bodyPr>
          <a:lstStyle/>
          <a:p>
            <a:pPr algn="ctr">
              <a:spcAft>
                <a:spcPts val="100"/>
              </a:spcAft>
            </a:pPr>
            <a:r>
              <a:rPr sz="850" b="1" i="0" u="none">
                <a:solidFill>
                  <a:srgbClr val="9A6700"/>
                </a:solidFill>
                <a:latin typeface="Arial"/>
              </a:rPr>
              <a:t>Prototype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9720072" y="5568696"/>
            <a:ext cx="2121408" cy="347472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 u="none">
                <a:solidFill>
                  <a:srgbClr val="1A1A1A"/>
                </a:solidFill>
                <a:latin typeface="Arial"/>
              </a:rPr>
              <a:t>CNN verifier: recall 90 %, FPR 23 % on held-out synthetic patches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8778240" y="5907024"/>
            <a:ext cx="896112" cy="246888"/>
          </a:xfrm>
          <a:prstGeom prst="roundRect">
            <a:avLst>
              <a:gd name="adj" fmla="val 30000"/>
            </a:avLst>
          </a:prstGeom>
          <a:solidFill>
            <a:srgbClr val="F4F6F9"/>
          </a:solidFill>
          <a:ln w="12700">
            <a:solidFill>
              <a:srgbClr val="555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5486" bIns="5486">
            <a:noAutofit/>
          </a:bodyPr>
          <a:lstStyle/>
          <a:p>
            <a:pPr algn="ctr">
              <a:spcAft>
                <a:spcPts val="100"/>
              </a:spcAft>
            </a:pPr>
            <a:r>
              <a:rPr sz="850" b="1" i="0" u="none">
                <a:solidFill>
                  <a:srgbClr val="555B66"/>
                </a:solidFill>
                <a:latin typeface="Arial"/>
              </a:rPr>
              <a:t>Planned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9720072" y="5861304"/>
            <a:ext cx="2121408" cy="347472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 u="none">
                <a:solidFill>
                  <a:srgbClr val="1A1A1A"/>
                </a:solidFill>
                <a:latin typeface="Arial"/>
              </a:rPr>
              <a:t>.exe build · HIL rig · real footage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566160" y="6356353"/>
            <a:ext cx="50292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 Regnum Carya  ·  ANVESHA  ·  SIH26169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18288" rIns="18288" tIns="10972" bIns="10972">
            <a:noAutofit/>
          </a:bodyPr>
          <a:lstStyle/>
          <a:p>
            <a:pPr algn="ctr"/>
            <a:r>
              <a:rPr sz="1050" b="1" i="0" u="none">
                <a:solidFill>
                  <a:srgbClr val="1F497D"/>
                </a:solidFill>
                <a:latin typeface="Arial"/>
              </a:rPr>
              <a:t>Regnum Carya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960120"/>
            <a:ext cx="576072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marL="219456" indent="-219456">
              <a:buFont typeface="Wingdings" pitchFamily="2" charset="2"/>
              <a:buChar char="v"/>
            </a:pPr>
            <a:r>
              <a:rPr sz="1400" b="1" i="0" u="sng">
                <a:solidFill>
                  <a:srgbClr val="1F497D"/>
                </a:solidFill>
                <a:latin typeface="Arial"/>
              </a:rPr>
              <a:t>Potential impact on the target audience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325880"/>
            <a:ext cx="5760720" cy="603504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7412" name="Oval 17411"/>
          <p:cNvSpPr/>
          <p:nvPr/>
        </p:nvSpPr>
        <p:spPr>
          <a:xfrm>
            <a:off x="457200" y="1435607"/>
            <a:ext cx="384048" cy="384048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100"/>
              </a:spcAft>
            </a:pPr>
            <a:r>
              <a:rPr sz="1300" b="1" i="0" u="none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932688" y="1344168"/>
            <a:ext cx="5120640" cy="566928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 u="none">
                <a:solidFill>
                  <a:srgbClr val="1F497D"/>
                </a:solidFill>
                <a:latin typeface="Arial"/>
              </a:rPr>
              <a:t>ISRO / DoS PAT teams: </a:t>
            </a:r>
            <a:r>
              <a:rPr sz="1000" b="0" i="0" u="none">
                <a:solidFill>
                  <a:srgbClr val="1A1A1A"/>
                </a:solidFill>
                <a:latin typeface="Arial"/>
              </a:rPr>
              <a:t>design &amp; regression-test coarse PAT for mobile ground terminals, UAV/HAP relays and LEO links before hardware exists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65760" y="2002536"/>
            <a:ext cx="5760720" cy="603504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7415" name="Oval 17414"/>
          <p:cNvSpPr/>
          <p:nvPr/>
        </p:nvSpPr>
        <p:spPr>
          <a:xfrm>
            <a:off x="457200" y="2112264"/>
            <a:ext cx="384048" cy="384048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100"/>
              </a:spcAft>
            </a:pPr>
            <a:r>
              <a:rPr sz="1300" b="1" i="0" u="none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932688" y="2020824"/>
            <a:ext cx="5120640" cy="566928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 u="none">
                <a:solidFill>
                  <a:srgbClr val="1F497D"/>
                </a:solidFill>
                <a:latin typeface="Arial"/>
              </a:rPr>
              <a:t>Academia &amp; students: </a:t>
            </a:r>
            <a:r>
              <a:rPr sz="1000" b="0" i="0" u="none">
                <a:solidFill>
                  <a:srgbClr val="1A1A1A"/>
                </a:solidFill>
                <a:latin typeface="Arial"/>
              </a:rPr>
              <a:t>seeded, repeatable PAT testbed — no optics lab, camera or gimbal needed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365760" y="2679191"/>
            <a:ext cx="5760720" cy="603504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7418" name="Oval 17417"/>
          <p:cNvSpPr/>
          <p:nvPr/>
        </p:nvSpPr>
        <p:spPr>
          <a:xfrm>
            <a:off x="457200" y="2788920"/>
            <a:ext cx="384048" cy="384048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100"/>
              </a:spcAft>
            </a:pPr>
            <a:r>
              <a:rPr sz="1300" b="1" i="0" u="none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932688" y="2697479"/>
            <a:ext cx="5120640" cy="566928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 i="0" u="none">
                <a:solidFill>
                  <a:srgbClr val="1F497D"/>
                </a:solidFill>
                <a:latin typeface="Arial"/>
              </a:rPr>
              <a:t>Indian FSOC start-ups: </a:t>
            </a:r>
            <a:r>
              <a:rPr sz="1000" b="0" i="0" u="none">
                <a:solidFill>
                  <a:srgbClr val="1A1A1A"/>
                </a:solidFill>
                <a:latin typeface="Arial"/>
              </a:rPr>
              <a:t>tracker talks only frames, encoder/IMU and rate commands → swap simulator for a real camera + pan-tilt (HIL)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365760" y="3401568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marL="219456" indent="-219456">
              <a:buFont typeface="Wingdings" pitchFamily="2" charset="2"/>
              <a:buChar char="v"/>
            </a:pPr>
            <a:r>
              <a:rPr sz="1250" b="1" i="0" u="sng">
                <a:solidFill>
                  <a:srgbClr val="1F497D"/>
                </a:solidFill>
                <a:latin typeface="Arial"/>
              </a:rPr>
              <a:t>Benefits of the solution (social, economic, environmental, etc.)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365760" y="3703320"/>
            <a:ext cx="5760720" cy="173736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 marL="128016" indent="-128016">
              <a:spcAft>
                <a:spcPts val="300"/>
              </a:spcAft>
              <a:buFont typeface="Arial"/>
              <a:buChar char="•"/>
            </a:pPr>
            <a:r>
              <a:rPr sz="1000" b="1" i="0" u="none">
                <a:solidFill>
                  <a:srgbClr val="1F497D"/>
                </a:solidFill>
                <a:latin typeface="Arial"/>
              </a:rPr>
              <a:t>Economic — </a:t>
            </a:r>
            <a:r>
              <a:rPr sz="1000" b="0" i="0" u="none">
                <a:solidFill>
                  <a:srgbClr val="1A1A1A"/>
                </a:solidFill>
                <a:latin typeface="Arial"/>
              </a:rPr>
              <a:t>develop and tune PAT logic without cameras, pan-tilt units, beacons or an optical bench — the cost barrier named in the PS</a:t>
            </a:r>
          </a:p>
          <a:p>
            <a:pPr algn="l" marL="128016" indent="-128016">
              <a:spcAft>
                <a:spcPts val="300"/>
              </a:spcAft>
              <a:buFont typeface="Arial"/>
              <a:buChar char="•"/>
            </a:pPr>
            <a:r>
              <a:rPr sz="1000" b="1" i="0" u="none">
                <a:solidFill>
                  <a:srgbClr val="1F497D"/>
                </a:solidFill>
                <a:latin typeface="Arial"/>
              </a:rPr>
              <a:t>Technical — </a:t>
            </a:r>
            <a:r>
              <a:rPr sz="1000" b="0" i="0" u="none">
                <a:solidFill>
                  <a:srgbClr val="1A1A1A"/>
                </a:solidFill>
                <a:latin typeface="Arial"/>
              </a:rPr>
              <a:t>disturbance sweeps that cannot be reproduced outdoors; every run = (scenario, pipeline, seed) with truth-based logs</a:t>
            </a:r>
          </a:p>
          <a:p>
            <a:pPr algn="l" marL="128016" indent="-128016">
              <a:spcAft>
                <a:spcPts val="300"/>
              </a:spcAft>
              <a:buFont typeface="Arial"/>
              <a:buChar char="•"/>
            </a:pPr>
            <a:r>
              <a:rPr sz="1000" b="1" i="0" u="none">
                <a:solidFill>
                  <a:srgbClr val="1F497D"/>
                </a:solidFill>
                <a:latin typeface="Arial"/>
              </a:rPr>
              <a:t>Strategic — </a:t>
            </a:r>
            <a:r>
              <a:rPr sz="1000" b="0" i="0" u="none">
                <a:solidFill>
                  <a:srgbClr val="1A1A1A"/>
                </a:solidFill>
                <a:latin typeface="Arial"/>
              </a:rPr>
              <a:t>indigenous, auditable coarse-PAT software for Indian optical-communication missions</a:t>
            </a:r>
          </a:p>
          <a:p>
            <a:pPr algn="l" marL="128016" indent="-128016">
              <a:spcAft>
                <a:spcPts val="300"/>
              </a:spcAft>
              <a:buFont typeface="Arial"/>
              <a:buChar char="•"/>
            </a:pPr>
            <a:r>
              <a:rPr sz="1000" b="1" i="0" u="none">
                <a:solidFill>
                  <a:srgbClr val="1F497D"/>
                </a:solidFill>
                <a:latin typeface="Arial"/>
              </a:rPr>
              <a:t>Social / skills — </a:t>
            </a:r>
            <a:r>
              <a:rPr sz="1000" b="0" i="0" u="none">
                <a:solidFill>
                  <a:srgbClr val="1A1A1A"/>
                </a:solidFill>
                <a:latin typeface="Arial"/>
              </a:rPr>
              <a:t>hands-on PAT, computer vision and control for students across India</a:t>
            </a:r>
          </a:p>
          <a:p>
            <a:pPr algn="l" marL="128016" indent="-128016">
              <a:spcAft>
                <a:spcPts val="300"/>
              </a:spcAft>
              <a:buFont typeface="Arial"/>
              <a:buChar char="•"/>
            </a:pPr>
            <a:r>
              <a:rPr sz="1000" b="1" i="0" u="none">
                <a:solidFill>
                  <a:srgbClr val="1F497D"/>
                </a:solidFill>
                <a:latin typeface="Arial"/>
              </a:rPr>
              <a:t>Environmental — </a:t>
            </a:r>
            <a:r>
              <a:rPr sz="1000" b="0" i="0" u="none">
                <a:solidFill>
                  <a:srgbClr val="1A1A1A"/>
                </a:solidFill>
                <a:latin typeface="Arial"/>
              </a:rPr>
              <a:t>fewer vehicle / field trials for early tuning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6355080" y="960120"/>
            <a:ext cx="5486400" cy="27432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 i="0" u="none">
                <a:solidFill>
                  <a:srgbClr val="1F497D"/>
                </a:solidFill>
                <a:latin typeface="Arial"/>
              </a:rPr>
              <a:t>What makes ANVESHA different</a:t>
            </a:r>
          </a:p>
        </p:txBody>
      </p:sp>
      <p:graphicFrame>
        <p:nvGraphicFramePr>
          <p:cNvPr id="17423" name="Table 17422"/>
          <p:cNvGraphicFramePr>
            <a:graphicFrameLocks noGrp="1"/>
          </p:cNvGraphicFramePr>
          <p:nvPr/>
        </p:nvGraphicFramePr>
        <p:xfrm>
          <a:off x="6355080" y="1280160"/>
          <a:ext cx="5486400" cy="323697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429000"/>
                <a:gridCol w="1188720"/>
                <a:gridCol w="86868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 u="none">
                          <a:solidFill>
                            <a:srgbClr val="FFFFFF"/>
                          </a:solidFill>
                          <a:latin typeface="Arial"/>
                        </a:rPr>
                        <a:t>Capability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1" i="0" u="none">
                          <a:solidFill>
                            <a:srgbClr val="FFFFFF"/>
                          </a:solidFill>
                          <a:latin typeface="Arial"/>
                        </a:rPr>
                        <a:t>Typical public approach*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1" i="0" u="none">
                          <a:solidFill>
                            <a:srgbClr val="FFFFFF"/>
                          </a:solidFill>
                          <a:latin typeface="Arial"/>
                        </a:rPr>
                        <a:t>ANVESHA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1F497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 u="none">
                          <a:solidFill>
                            <a:srgbClr val="1A1A1A"/>
                          </a:solidFill>
                          <a:latin typeface="Arial"/>
                        </a:rPr>
                        <a:t>Probability-map (belief) search instead of a fixed spiral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i="0" u="none">
                          <a:solidFill>
                            <a:srgbClr val="B71C1C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i="0" u="none">
                          <a:solidFill>
                            <a:srgbClr val="2E7D32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 u="none">
                          <a:solidFill>
                            <a:srgbClr val="1A1A1A"/>
                          </a:solidFill>
                          <a:latin typeface="Arial"/>
                        </a:rPr>
                        <a:t>FOV chosen from measured noise &amp; beacon detectability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i="0" u="none">
                          <a:solidFill>
                            <a:srgbClr val="B71C1C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i="0" u="none">
                          <a:solidFill>
                            <a:srgbClr val="2E7D32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 u="none">
                          <a:solidFill>
                            <a:srgbClr val="1A1A1A"/>
                          </a:solidFill>
                          <a:latin typeface="Arial"/>
                        </a:rPr>
                        <a:t>Re-acquisition seeded from the tracker's prediction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i="0" u="none">
                          <a:solidFill>
                            <a:srgbClr val="B71C1C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i="0" u="none">
                          <a:solidFill>
                            <a:srgbClr val="2E7D32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 u="none">
                          <a:solidFill>
                            <a:srgbClr val="1A1A1A"/>
                          </a:solidFill>
                          <a:latin typeface="Arial"/>
                        </a:rPr>
                        <a:t>Camera jitter separated from correctable LOS error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i="0" u="none">
                          <a:solidFill>
                            <a:srgbClr val="B71C1C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i="0" u="none">
                          <a:solidFill>
                            <a:srgbClr val="2E7D32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 u="none">
                          <a:solidFill>
                            <a:srgbClr val="1A1A1A"/>
                          </a:solidFill>
                          <a:latin typeface="Arial"/>
                        </a:rPr>
                        <a:t>Platform IMU feed-forward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50" b="1" i="0" u="none">
                          <a:solidFill>
                            <a:srgbClr val="9A6700"/>
                          </a:solidFill>
                          <a:latin typeface="Arial"/>
                        </a:rPr>
                        <a:t>some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i="0" u="none">
                          <a:solidFill>
                            <a:srgbClr val="2E7D32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 u="none">
                          <a:solidFill>
                            <a:srgbClr val="1A1A1A"/>
                          </a:solidFill>
                          <a:latin typeface="Arial"/>
                        </a:rPr>
                        <a:t>Same-seed baselines + ablation in one harness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i="0" u="none">
                          <a:solidFill>
                            <a:srgbClr val="B71C1C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i="0" u="none">
                          <a:solidFill>
                            <a:srgbClr val="2E7D32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 u="none">
                          <a:solidFill>
                            <a:srgbClr val="1A1A1A"/>
                          </a:solidFill>
                          <a:latin typeface="Arial"/>
                        </a:rPr>
                        <a:t>Benchmark-2 video (.mp4) bypass mode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i="0" u="none">
                          <a:solidFill>
                            <a:srgbClr val="2E7D32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i="0" u="none">
                          <a:solidFill>
                            <a:srgbClr val="2E7D32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 u="none">
                          <a:solidFill>
                            <a:srgbClr val="1A1A1A"/>
                          </a:solidFill>
                          <a:latin typeface="Arial"/>
                        </a:rPr>
                        <a:t>GUI + automatic performance report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i="0" u="none">
                          <a:solidFill>
                            <a:srgbClr val="2E7D32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i="0" u="none">
                          <a:solidFill>
                            <a:srgbClr val="2E7D32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C9D3DF"/>
                      </a:solidFill>
                    </a:lnL>
                    <a:lnR w="6350">
                      <a:solidFill>
                        <a:srgbClr val="C9D3DF"/>
                      </a:solidFill>
                    </a:lnR>
                    <a:lnT w="6350">
                      <a:solidFill>
                        <a:srgbClr val="C9D3DF"/>
                      </a:solidFill>
                    </a:lnT>
                    <a:lnB w="6350">
                      <a:solidFill>
                        <a:srgbClr val="C9D3DF"/>
                      </a:solidFill>
                    </a:lnB>
                    <a:solidFill>
                      <a:srgbClr val="E6F3E7"/>
                    </a:solidFill>
                  </a:tcPr>
                </a:tc>
              </a:tr>
            </a:tbl>
          </a:graphicData>
        </a:graphic>
      </p:graphicFrame>
      <p:sp>
        <p:nvSpPr>
          <p:cNvPr id="17424" name="TextBox 17423"/>
          <p:cNvSpPr txBox="1"/>
          <p:nvPr/>
        </p:nvSpPr>
        <p:spPr>
          <a:xfrm>
            <a:off x="6355080" y="4590288"/>
            <a:ext cx="5486400" cy="22860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 i="1" u="none">
                <a:solidFill>
                  <a:srgbClr val="555B66"/>
                </a:solidFill>
                <a:latin typeface="Arial"/>
              </a:rPr>
              <a:t>*majority pattern in the READMEs of 20 public SIH26169 repositories  · no team named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6355080" y="4846320"/>
            <a:ext cx="5486400" cy="384048"/>
          </a:xfrm>
          <a:prstGeom prst="roundRect">
            <a:avLst>
              <a:gd name="adj" fmla="val 10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100"/>
              </a:spcAft>
            </a:pPr>
            <a:r>
              <a:rPr sz="950" b="1" i="0" u="none">
                <a:solidFill>
                  <a:srgbClr val="1F497D"/>
                </a:solidFill>
                <a:latin typeface="Arial"/>
              </a:rPr>
              <a:t>Why acquisition matters: </a:t>
            </a:r>
            <a:r>
              <a:rPr sz="950" b="0" i="0" u="none">
                <a:solidFill>
                  <a:srgbClr val="1A1A1A"/>
                </a:solidFill>
                <a:latin typeface="Arial"/>
              </a:rPr>
              <a:t>an on-orbit optical link reported a 22 s acquisition time [Wang et al., Opt. Lett. 2023].</a:t>
            </a:r>
          </a:p>
        </p:txBody>
      </p:sp>
      <p:sp>
        <p:nvSpPr>
          <p:cNvPr id="17426" name="Pentagon 17425"/>
          <p:cNvSpPr/>
          <p:nvPr/>
        </p:nvSpPr>
        <p:spPr>
          <a:xfrm>
            <a:off x="365760" y="5358384"/>
            <a:ext cx="2914650" cy="868680"/>
          </a:xfrm>
          <a:prstGeom prst="homePlate">
            <a:avLst>
              <a:gd name="adj" fmla="val 2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27432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 u="none">
                <a:solidFill>
                  <a:srgbClr val="FFFFFF"/>
                </a:solidFill>
                <a:latin typeface="Arial"/>
              </a:rPr>
              <a:t>1 · SIL (now)</a:t>
            </a:r>
          </a:p>
          <a:p>
            <a:pPr algn="ctr">
              <a:spcAft>
                <a:spcPts val="0"/>
              </a:spcAft>
            </a:pPr>
            <a:r>
              <a:rPr sz="900" b="0" i="0" u="none">
                <a:solidFill>
                  <a:srgbClr val="FFFFFF"/>
                </a:solidFill>
                <a:latin typeface="Arial"/>
              </a:rPr>
              <a:t>sim · 16 scenarios · GUI</a:t>
            </a:r>
          </a:p>
        </p:txBody>
      </p:sp>
      <p:sp>
        <p:nvSpPr>
          <p:cNvPr id="17427" name="Chevron 17426"/>
          <p:cNvSpPr/>
          <p:nvPr/>
        </p:nvSpPr>
        <p:spPr>
          <a:xfrm>
            <a:off x="3234690" y="5358384"/>
            <a:ext cx="2914650" cy="868680"/>
          </a:xfrm>
          <a:prstGeom prst="chevron">
            <a:avLst>
              <a:gd name="adj" fmla="val 2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7432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 u="none">
                <a:solidFill>
                  <a:srgbClr val="FFFFFF"/>
                </a:solidFill>
                <a:latin typeface="Arial"/>
              </a:rPr>
              <a:t>2 · Real footage</a:t>
            </a:r>
          </a:p>
          <a:p>
            <a:pPr algn="ctr">
              <a:spcAft>
                <a:spcPts val="0"/>
              </a:spcAft>
            </a:pPr>
            <a:r>
              <a:rPr sz="900" b="0" i="0" u="none">
                <a:solidFill>
                  <a:srgbClr val="FFFFFF"/>
                </a:solidFill>
                <a:latin typeface="Arial"/>
              </a:rPr>
              <a:t>video mode ready</a:t>
            </a:r>
          </a:p>
        </p:txBody>
      </p:sp>
      <p:sp>
        <p:nvSpPr>
          <p:cNvPr id="17428" name="Chevron 17427"/>
          <p:cNvSpPr/>
          <p:nvPr/>
        </p:nvSpPr>
        <p:spPr>
          <a:xfrm>
            <a:off x="6103620" y="5358384"/>
            <a:ext cx="2914650" cy="868680"/>
          </a:xfrm>
          <a:prstGeom prst="chevron">
            <a:avLst>
              <a:gd name="adj" fmla="val 28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7432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 u="none">
                <a:solidFill>
                  <a:srgbClr val="FFFFFF"/>
                </a:solidFill>
                <a:latin typeface="Arial"/>
              </a:rPr>
              <a:t>3 · HIL rig</a:t>
            </a:r>
          </a:p>
          <a:p>
            <a:pPr algn="ctr">
              <a:spcAft>
                <a:spcPts val="0"/>
              </a:spcAft>
            </a:pPr>
            <a:r>
              <a:rPr sz="900" b="0" i="0" u="none">
                <a:solidFill>
                  <a:srgbClr val="FFFFFF"/>
                </a:solidFill>
                <a:latin typeface="Arial"/>
              </a:rPr>
              <a:t>camera + pan-tilt + beacon</a:t>
            </a:r>
          </a:p>
        </p:txBody>
      </p:sp>
      <p:sp>
        <p:nvSpPr>
          <p:cNvPr id="17429" name="Chevron 17428"/>
          <p:cNvSpPr/>
          <p:nvPr/>
        </p:nvSpPr>
        <p:spPr>
          <a:xfrm>
            <a:off x="8972550" y="5358384"/>
            <a:ext cx="2914650" cy="868680"/>
          </a:xfrm>
          <a:prstGeom prst="chevron">
            <a:avLst>
              <a:gd name="adj" fmla="val 28000"/>
            </a:avLst>
          </a:prstGeom>
          <a:solidFill>
            <a:srgbClr val="5B3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7432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 u="none">
                <a:solidFill>
                  <a:srgbClr val="FFFFFF"/>
                </a:solidFill>
                <a:latin typeface="Arial"/>
              </a:rPr>
              <a:t>4 · Fine-stage hand-off</a:t>
            </a:r>
          </a:p>
          <a:p>
            <a:pPr algn="ctr">
              <a:spcAft>
                <a:spcPts val="0"/>
              </a:spcAft>
            </a:pPr>
            <a:r>
              <a:rPr sz="900" b="0" i="0" u="none">
                <a:solidFill>
                  <a:srgbClr val="FFFFFF"/>
                </a:solidFill>
                <a:latin typeface="Arial"/>
              </a:rPr>
              <a:t>FSM / QD removes jitter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566160" y="6356353"/>
            <a:ext cx="50292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 Regnum Carya  ·  ANVESHA  ·  SIH26169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18288" rIns="18288" tIns="10972" bIns="10972">
            <a:noAutofit/>
          </a:bodyPr>
          <a:lstStyle/>
          <a:p>
            <a:pPr algn="ctr"/>
            <a:r>
              <a:rPr sz="1050" b="1" i="0" u="none">
                <a:solidFill>
                  <a:srgbClr val="1F497D"/>
                </a:solidFill>
                <a:latin typeface="Arial"/>
              </a:rPr>
              <a:t>Regnum Carya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960120"/>
            <a:ext cx="82296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marL="219456" indent="-219456">
              <a:buFont typeface="Wingdings" pitchFamily="2" charset="2"/>
              <a:buChar char="v"/>
            </a:pPr>
            <a:r>
              <a:rPr sz="1400" b="1" i="0" u="sng">
                <a:solidFill>
                  <a:srgbClr val="1F497D"/>
                </a:solidFill>
                <a:latin typeface="Arial"/>
              </a:rPr>
              <a:t>Details / Links of the reference and research work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325880"/>
            <a:ext cx="3703320" cy="566928"/>
          </a:xfrm>
          <a:prstGeom prst="roundRect">
            <a:avLst>
              <a:gd name="adj" fmla="val 10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57200" y="1325880"/>
            <a:ext cx="1325880" cy="566928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2100" b="1" i="0" u="none">
                <a:solidFill>
                  <a:srgbClr val="0070C0"/>
                </a:solidFill>
                <a:latin typeface="Arial"/>
              </a:rPr>
              <a:t>134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1737360" y="1325880"/>
            <a:ext cx="2240279" cy="566928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Arial"/>
              </a:rPr>
              <a:t>papers in a structured literature database (DOIs)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251960" y="1325880"/>
            <a:ext cx="3703320" cy="566928"/>
          </a:xfrm>
          <a:prstGeom prst="roundRect">
            <a:avLst>
              <a:gd name="adj" fmla="val 10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343400" y="1325880"/>
            <a:ext cx="1325880" cy="566928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2100" b="1" i="0" u="none">
                <a:solidFill>
                  <a:srgbClr val="0070C0"/>
                </a:solidFill>
                <a:latin typeface="Arial"/>
              </a:rPr>
              <a:t>20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5623560" y="1325880"/>
            <a:ext cx="2240279" cy="566928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Arial"/>
              </a:rPr>
              <a:t>public SIH26169 repositories analysed for differentiation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8138160" y="1325880"/>
            <a:ext cx="3703320" cy="566928"/>
          </a:xfrm>
          <a:prstGeom prst="roundRect">
            <a:avLst>
              <a:gd name="adj" fmla="val 10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8229600" y="1325880"/>
            <a:ext cx="1325880" cy="566928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2100" b="1" i="0" u="none">
                <a:solidFill>
                  <a:srgbClr val="0070C0"/>
                </a:solidFill>
                <a:latin typeface="Arial"/>
              </a:rPr>
              <a:t>16×4×3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9509760" y="1325880"/>
            <a:ext cx="2240279" cy="566928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0" i="0" u="none">
                <a:solidFill>
                  <a:srgbClr val="1A1A1A"/>
                </a:solidFill>
                <a:latin typeface="Arial"/>
              </a:rPr>
              <a:t>scenarios × pipelines × seeds + 7-way ablation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365760" y="2011680"/>
            <a:ext cx="5600700" cy="274320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950" b="1" i="0" u="none">
                <a:solidFill>
                  <a:srgbClr val="1F497D"/>
                </a:solidFill>
                <a:latin typeface="Arial"/>
              </a:rPr>
              <a:t>[1] </a:t>
            </a:r>
            <a:r>
              <a:rPr sz="950" b="0" i="0" u="none">
                <a:solidFill>
                  <a:srgbClr val="1A1A1A"/>
                </a:solidFill>
                <a:latin typeface="Arial"/>
              </a:rPr>
              <a:t>Kaymak Y. et al., “A Survey on Acquisition, Tracking, and Pointing Mechanisms for Mobile FSO Communications,” IEEE COMST, 2018. </a:t>
            </a:r>
            <a:r>
              <a:rPr sz="950" b="0" i="0" u="sng">
                <a:solidFill>
                  <a:srgbClr val="0070C0"/>
                </a:solidFill>
                <a:latin typeface="Arial"/>
              </a:rPr>
              <a:t>doi.org/10.1109/comst.2018.2804323</a:t>
            </a:r>
          </a:p>
          <a:p>
            <a:pPr algn="l">
              <a:spcAft>
                <a:spcPts val="400"/>
              </a:spcAft>
            </a:pPr>
            <a:r>
              <a:rPr sz="950" b="1" i="0" u="none">
                <a:solidFill>
                  <a:srgbClr val="1F497D"/>
                </a:solidFill>
                <a:latin typeface="Arial"/>
              </a:rPr>
              <a:t>[2] </a:t>
            </a:r>
            <a:r>
              <a:rPr sz="950" b="0" i="0" u="none">
                <a:solidFill>
                  <a:srgbClr val="1A1A1A"/>
                </a:solidFill>
                <a:latin typeface="Arial"/>
              </a:rPr>
              <a:t>Abdelfatah R. et al., “A review on PAT approaches in UAV-based FSO communication systems,” Opt. Quantum Electron., 2022. </a:t>
            </a:r>
            <a:r>
              <a:rPr sz="950" b="0" i="0" u="sng">
                <a:solidFill>
                  <a:srgbClr val="0070C0"/>
                </a:solidFill>
                <a:latin typeface="Arial"/>
              </a:rPr>
              <a:t>doi.org/10.1007/s11082-022-03968-2</a:t>
            </a:r>
          </a:p>
          <a:p>
            <a:pPr algn="l">
              <a:spcAft>
                <a:spcPts val="400"/>
              </a:spcAft>
            </a:pPr>
            <a:r>
              <a:rPr sz="950" b="1" i="0" u="none">
                <a:solidFill>
                  <a:srgbClr val="1F497D"/>
                </a:solidFill>
                <a:latin typeface="Arial"/>
              </a:rPr>
              <a:t>[3] </a:t>
            </a:r>
            <a:r>
              <a:rPr sz="950" b="0" i="0" u="none">
                <a:solidFill>
                  <a:srgbClr val="1A1A1A"/>
                </a:solidFill>
                <a:latin typeface="Arial"/>
              </a:rPr>
              <a:t>Wang X. et al., “On-orbit space optical communication demonstration with a 22 s acquisition time,” Opt. Lett., 2023. </a:t>
            </a:r>
            <a:r>
              <a:rPr sz="950" b="0" i="0" u="sng">
                <a:solidFill>
                  <a:srgbClr val="0070C0"/>
                </a:solidFill>
                <a:latin typeface="Arial"/>
              </a:rPr>
              <a:t>doi.org/10.1364/ol.505966</a:t>
            </a:r>
          </a:p>
          <a:p>
            <a:pPr algn="l">
              <a:spcAft>
                <a:spcPts val="400"/>
              </a:spcAft>
            </a:pPr>
            <a:r>
              <a:rPr sz="950" b="1" i="0" u="none">
                <a:solidFill>
                  <a:srgbClr val="1F497D"/>
                </a:solidFill>
                <a:latin typeface="Arial"/>
              </a:rPr>
              <a:t>[4] </a:t>
            </a:r>
            <a:r>
              <a:rPr sz="950" b="0" i="0" u="none">
                <a:solidFill>
                  <a:srgbClr val="1A1A1A"/>
                </a:solidFill>
                <a:latin typeface="Arial"/>
              </a:rPr>
              <a:t>Friederichs L. et al., “Vibration Influence on Hit Probability During Beaconless Spatial Acquisition,” J. Lightwave Technol., 2016. </a:t>
            </a:r>
            <a:r>
              <a:rPr sz="950" b="0" i="0" u="sng">
                <a:solidFill>
                  <a:srgbClr val="0070C0"/>
                </a:solidFill>
                <a:latin typeface="Arial"/>
              </a:rPr>
              <a:t>doi.org/10.1109/jlt.2016.2542918</a:t>
            </a:r>
          </a:p>
          <a:p>
            <a:pPr algn="l">
              <a:spcAft>
                <a:spcPts val="400"/>
              </a:spcAft>
            </a:pPr>
            <a:r>
              <a:rPr sz="950" b="1" i="0" u="none">
                <a:solidFill>
                  <a:srgbClr val="1F497D"/>
                </a:solidFill>
                <a:latin typeface="Arial"/>
              </a:rPr>
              <a:t>[5] </a:t>
            </a:r>
            <a:r>
              <a:rPr sz="950" b="0" i="0" u="none">
                <a:solidFill>
                  <a:srgbClr val="1A1A1A"/>
                </a:solidFill>
                <a:latin typeface="Arial"/>
              </a:rPr>
              <a:t>Wang T. et al., “Probability Descent-Based Equivalent Spot Scanning for Satellite Laser Acquisition…,” IEEE TAES, 2025. </a:t>
            </a:r>
            <a:r>
              <a:rPr sz="950" b="0" i="0" u="sng">
                <a:solidFill>
                  <a:srgbClr val="0070C0"/>
                </a:solidFill>
                <a:latin typeface="Arial"/>
              </a:rPr>
              <a:t>doi.org/10.1109/taes.2025.3596959</a:t>
            </a:r>
          </a:p>
          <a:p>
            <a:pPr algn="l">
              <a:spcAft>
                <a:spcPts val="400"/>
              </a:spcAft>
            </a:pPr>
            <a:r>
              <a:rPr sz="950" b="1" i="0" u="none">
                <a:solidFill>
                  <a:srgbClr val="1F497D"/>
                </a:solidFill>
                <a:latin typeface="Arial"/>
              </a:rPr>
              <a:t>[6] </a:t>
            </a:r>
            <a:r>
              <a:rPr sz="950" b="0" i="0" u="none">
                <a:solidFill>
                  <a:srgbClr val="1A1A1A"/>
                </a:solidFill>
                <a:latin typeface="Arial"/>
              </a:rPr>
              <a:t>Skryja P., Barcik P., “Optimal Scanning Pattern for Initial Free-Space Optical-Link Alignment,” Photonics, 2024. </a:t>
            </a:r>
            <a:r>
              <a:rPr sz="950" b="0" i="0" u="sng">
                <a:solidFill>
                  <a:srgbClr val="0070C0"/>
                </a:solidFill>
                <a:latin typeface="Arial"/>
              </a:rPr>
              <a:t>doi.org/10.3390/photonics11060540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6240780" y="2011680"/>
            <a:ext cx="5600700" cy="2743200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950" b="1" i="0" u="none">
                <a:solidFill>
                  <a:srgbClr val="1F497D"/>
                </a:solidFill>
                <a:latin typeface="Arial"/>
              </a:rPr>
              <a:t>[7] </a:t>
            </a:r>
            <a:r>
              <a:rPr sz="950" b="0" i="0" u="none">
                <a:solidFill>
                  <a:srgbClr val="1A1A1A"/>
                </a:solidFill>
                <a:latin typeface="Arial"/>
              </a:rPr>
              <a:t>Wang Q. et al., “Approach for recognizing and tracking beacon in inter-satellite optical communication…,” Opt. Express, 2018. </a:t>
            </a:r>
            <a:r>
              <a:rPr sz="950" b="0" i="0" u="sng">
                <a:solidFill>
                  <a:srgbClr val="0070C0"/>
                </a:solidFill>
                <a:latin typeface="Arial"/>
              </a:rPr>
              <a:t>doi.org/10.1364/oe.26.028080</a:t>
            </a:r>
          </a:p>
          <a:p>
            <a:pPr algn="l">
              <a:spcAft>
                <a:spcPts val="400"/>
              </a:spcAft>
            </a:pPr>
            <a:r>
              <a:rPr sz="950" b="1" i="0" u="none">
                <a:solidFill>
                  <a:srgbClr val="1F497D"/>
                </a:solidFill>
                <a:latin typeface="Arial"/>
              </a:rPr>
              <a:t>[8] </a:t>
            </a:r>
            <a:r>
              <a:rPr sz="950" b="0" i="0" u="none">
                <a:solidFill>
                  <a:srgbClr val="1A1A1A"/>
                </a:solidFill>
                <a:latin typeface="Arial"/>
              </a:rPr>
              <a:t>Lim H. et al., “Centroid Error Analysis of Beacon Tracking under Atmospheric Turbulence…,” Remote Sensing, 2021. </a:t>
            </a:r>
            <a:r>
              <a:rPr sz="950" b="0" i="0" u="sng">
                <a:solidFill>
                  <a:srgbClr val="0070C0"/>
                </a:solidFill>
                <a:latin typeface="Arial"/>
              </a:rPr>
              <a:t>doi.org/10.3390/rs13101931</a:t>
            </a:r>
          </a:p>
          <a:p>
            <a:pPr algn="l">
              <a:spcAft>
                <a:spcPts val="400"/>
              </a:spcAft>
            </a:pPr>
            <a:r>
              <a:rPr sz="950" b="1" i="0" u="none">
                <a:solidFill>
                  <a:srgbClr val="1F497D"/>
                </a:solidFill>
                <a:latin typeface="Arial"/>
              </a:rPr>
              <a:t>[9] </a:t>
            </a:r>
            <a:r>
              <a:rPr sz="950" b="0" i="0" u="none">
                <a:solidFill>
                  <a:srgbClr val="1A1A1A"/>
                </a:solidFill>
                <a:latin typeface="Arial"/>
              </a:rPr>
              <a:t>Li L. et al., “Noise adaptive fading Kalman filter for free-space laser communication beacon tracking,” Appl. Opt., 2016. </a:t>
            </a:r>
            <a:r>
              <a:rPr sz="950" b="0" i="0" u="sng">
                <a:solidFill>
                  <a:srgbClr val="0070C0"/>
                </a:solidFill>
                <a:latin typeface="Arial"/>
              </a:rPr>
              <a:t>doi.org/10.1364/ao.55.008486</a:t>
            </a:r>
          </a:p>
          <a:p>
            <a:pPr algn="l">
              <a:spcAft>
                <a:spcPts val="400"/>
              </a:spcAft>
            </a:pPr>
            <a:r>
              <a:rPr sz="950" b="1" i="0" u="none">
                <a:solidFill>
                  <a:srgbClr val="1F497D"/>
                </a:solidFill>
                <a:latin typeface="Arial"/>
              </a:rPr>
              <a:t>[10] </a:t>
            </a:r>
            <a:r>
              <a:rPr sz="950" b="0" i="0" u="none">
                <a:solidFill>
                  <a:srgbClr val="1A1A1A"/>
                </a:solidFill>
                <a:latin typeface="Arial"/>
              </a:rPr>
              <a:t>Youn W., Myung H., “Robust Interacting Multiple Model With Modeling Uncertainties for Maneuvering Target Tracking,” IEEE Access, 2019. </a:t>
            </a:r>
            <a:r>
              <a:rPr sz="950" b="0" i="0" u="sng">
                <a:solidFill>
                  <a:srgbClr val="0070C0"/>
                </a:solidFill>
                <a:latin typeface="Arial"/>
              </a:rPr>
              <a:t>doi.org/10.1109/access.2019.2915506</a:t>
            </a:r>
          </a:p>
          <a:p>
            <a:pPr algn="l">
              <a:spcAft>
                <a:spcPts val="400"/>
              </a:spcAft>
            </a:pPr>
            <a:r>
              <a:rPr sz="950" b="1" i="0" u="none">
                <a:solidFill>
                  <a:srgbClr val="1F497D"/>
                </a:solidFill>
                <a:latin typeface="Arial"/>
              </a:rPr>
              <a:t>[11] </a:t>
            </a:r>
            <a:r>
              <a:rPr sz="950" b="0" i="0" u="none">
                <a:solidFill>
                  <a:srgbClr val="1A1A1A"/>
                </a:solidFill>
                <a:latin typeface="Arial"/>
              </a:rPr>
              <a:t>Bian Q. et al., “Accelerometer-Assisted Disturbance Feedforward Control of an Inertially Stabilized Platform…,” IEEE Sensors J., 2023. </a:t>
            </a:r>
            <a:r>
              <a:rPr sz="950" b="0" i="0" u="sng">
                <a:solidFill>
                  <a:srgbClr val="0070C0"/>
                </a:solidFill>
                <a:latin typeface="Arial"/>
              </a:rPr>
              <a:t>doi.org/10.1109/jsen.2023.3259446</a:t>
            </a:r>
          </a:p>
          <a:p>
            <a:pPr algn="l">
              <a:spcAft>
                <a:spcPts val="400"/>
              </a:spcAft>
            </a:pPr>
            <a:r>
              <a:rPr sz="950" b="1" i="0" u="none">
                <a:solidFill>
                  <a:srgbClr val="1F497D"/>
                </a:solidFill>
                <a:latin typeface="Arial"/>
              </a:rPr>
              <a:t>[12] </a:t>
            </a:r>
            <a:r>
              <a:rPr sz="950" b="0" i="0" u="none">
                <a:solidFill>
                  <a:srgbClr val="1A1A1A"/>
                </a:solidFill>
                <a:latin typeface="Arial"/>
              </a:rPr>
              <a:t>Kiesbye J. et al., “Hardware-In-The-Loop and Software-In-The-Loop Testing of the MOVE-II CubeSat,” Aerospace, 2019. </a:t>
            </a:r>
            <a:r>
              <a:rPr sz="950" b="0" i="0" u="sng">
                <a:solidFill>
                  <a:srgbClr val="0070C0"/>
                </a:solidFill>
                <a:latin typeface="Arial"/>
              </a:rPr>
              <a:t>doi.org/10.3390/aerospace6120130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365760" y="484632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B8C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457200" y="4882896"/>
            <a:ext cx="3383280" cy="1344168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100" b="1" i="0" u="none">
                <a:solidFill>
                  <a:srgbClr val="1F497D"/>
                </a:solidFill>
                <a:latin typeface="Arial"/>
              </a:rPr>
              <a:t>SOLUTIONS ALREADY EXIST</a:t>
            </a:r>
          </a:p>
          <a:p>
            <a:pPr algn="l" marL="109728" indent="-109728">
              <a:spcAft>
                <a:spcPts val="200"/>
              </a:spcAft>
              <a:buFont typeface="Arial"/>
              <a:buChar char="•"/>
            </a:pPr>
            <a:r>
              <a:rPr sz="950" b="0" i="0" u="none">
                <a:solidFill>
                  <a:srgbClr val="1A1A1A"/>
                </a:solidFill>
                <a:latin typeface="Arial"/>
              </a:rPr>
              <a:t>Open-loop spiral / raster / Lissajous scans [5][6]</a:t>
            </a:r>
          </a:p>
          <a:p>
            <a:pPr algn="l" marL="109728" indent="-109728">
              <a:spcAft>
                <a:spcPts val="200"/>
              </a:spcAft>
              <a:buFont typeface="Arial"/>
              <a:buChar char="•"/>
            </a:pPr>
            <a:r>
              <a:rPr sz="950" b="0" i="0" u="none">
                <a:solidFill>
                  <a:srgbClr val="1A1A1A"/>
                </a:solidFill>
                <a:latin typeface="Arial"/>
              </a:rPr>
              <a:t>Wide-FOV acquisition switched by fixed rules</a:t>
            </a:r>
          </a:p>
          <a:p>
            <a:pPr algn="l" marL="109728" indent="-109728">
              <a:spcAft>
                <a:spcPts val="200"/>
              </a:spcAft>
              <a:buFont typeface="Arial"/>
              <a:buChar char="•"/>
            </a:pPr>
            <a:r>
              <a:rPr sz="950" b="0" i="0" u="none">
                <a:solidFill>
                  <a:srgbClr val="1A1A1A"/>
                </a:solidFill>
                <a:latin typeface="Arial"/>
              </a:rPr>
              <a:t>Threshold/blob + Kalman + PID trackers (most public repos)</a:t>
            </a:r>
          </a:p>
          <a:p>
            <a:pPr algn="l" marL="109728" indent="-109728">
              <a:spcAft>
                <a:spcPts val="200"/>
              </a:spcAft>
              <a:buFont typeface="Arial"/>
              <a:buChar char="•"/>
            </a:pPr>
            <a:r>
              <a:rPr sz="950" b="1" i="0" u="none">
                <a:solidFill>
                  <a:srgbClr val="B71C1C"/>
                </a:solidFill>
                <a:latin typeface="Arial"/>
              </a:rPr>
              <a:t>Blind ~8–10 s search vs PS ≤ 2 s</a:t>
            </a:r>
          </a:p>
        </p:txBody>
      </p:sp>
      <p:cxnSp>
        <p:nvCxnSpPr>
          <p:cNvPr id="17424" name="Connector 17423"/>
          <p:cNvCxnSpPr/>
          <p:nvPr/>
        </p:nvCxnSpPr>
        <p:spPr>
          <a:xfrm>
            <a:off x="3977639" y="5554980"/>
            <a:ext cx="365761" cy="0"/>
          </a:xfrm>
          <a:prstGeom prst="line">
            <a:avLst/>
          </a:prstGeom>
          <a:ln w="381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5" name="Rounded Rectangle 17424"/>
          <p:cNvSpPr/>
          <p:nvPr/>
        </p:nvSpPr>
        <p:spPr>
          <a:xfrm>
            <a:off x="4389120" y="4846320"/>
            <a:ext cx="4069080" cy="1417320"/>
          </a:xfrm>
          <a:prstGeom prst="roundRect">
            <a:avLst>
              <a:gd name="adj" fmla="val 8000"/>
            </a:avLst>
          </a:prstGeom>
          <a:solidFill>
            <a:srgbClr val="FDEEE3"/>
          </a:solidFill>
          <a:ln w="1905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4480560" y="4882896"/>
            <a:ext cx="3886200" cy="1344168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100" b="1" i="0" u="none">
                <a:solidFill>
                  <a:srgbClr val="C55A11"/>
                </a:solidFill>
                <a:latin typeface="Arial"/>
              </a:rPr>
              <a:t>ANVESHA STANDS OUT</a:t>
            </a:r>
          </a:p>
          <a:p>
            <a:pPr algn="l" marL="109728" indent="-109728">
              <a:spcAft>
                <a:spcPts val="200"/>
              </a:spcAft>
              <a:buFont typeface="Arial"/>
              <a:buChar char="•"/>
            </a:pPr>
            <a:r>
              <a:rPr sz="950" b="1" i="0" u="none">
                <a:solidFill>
                  <a:srgbClr val="1A1A1A"/>
                </a:solidFill>
                <a:latin typeface="Arial"/>
              </a:rPr>
              <a:t>One belief: </a:t>
            </a:r>
            <a:r>
              <a:rPr sz="950" b="0" i="0" u="none">
                <a:solidFill>
                  <a:srgbClr val="1A1A1A"/>
                </a:solidFill>
                <a:latin typeface="Arial"/>
              </a:rPr>
              <a:t>search → track → loss → re-acquire</a:t>
            </a:r>
          </a:p>
          <a:p>
            <a:pPr algn="l" marL="109728" indent="-109728">
              <a:spcAft>
                <a:spcPts val="200"/>
              </a:spcAft>
              <a:buFont typeface="Arial"/>
              <a:buChar char="•"/>
            </a:pPr>
            <a:r>
              <a:rPr sz="950" b="1" i="0" u="none">
                <a:solidFill>
                  <a:srgbClr val="1A1A1A"/>
                </a:solidFill>
                <a:latin typeface="Arial"/>
              </a:rPr>
              <a:t>Adaptive FOV </a:t>
            </a:r>
            <a:r>
              <a:rPr sz="950" b="0" i="0" u="none">
                <a:solidFill>
                  <a:srgbClr val="1A1A1A"/>
                </a:solidFill>
                <a:latin typeface="Arial"/>
              </a:rPr>
              <a:t>from measured noise + beacon detectability</a:t>
            </a:r>
          </a:p>
          <a:p>
            <a:pPr algn="l" marL="109728" indent="-109728">
              <a:spcAft>
                <a:spcPts val="200"/>
              </a:spcAft>
              <a:buFont typeface="Arial"/>
              <a:buChar char="•"/>
            </a:pPr>
            <a:r>
              <a:rPr sz="950" b="1" i="0" u="none">
                <a:solidFill>
                  <a:srgbClr val="1A1A1A"/>
                </a:solidFill>
                <a:latin typeface="Arial"/>
              </a:rPr>
              <a:t>Measured: </a:t>
            </a:r>
            <a:r>
              <a:rPr sz="950" b="0" i="0" u="none">
                <a:solidFill>
                  <a:srgbClr val="1A1A1A"/>
                </a:solidFill>
                <a:latin typeface="Arial"/>
              </a:rPr>
              <a:t>all PS checks met in 11/16 scenarios; baselines 0/16</a:t>
            </a:r>
          </a:p>
          <a:p>
            <a:pPr algn="l">
              <a:spcAft>
                <a:spcPts val="200"/>
              </a:spcAft>
            </a:pPr>
            <a:r>
              <a:rPr sz="750" b="0" i="1" u="none">
                <a:solidFill>
                  <a:srgbClr val="555B66"/>
                </a:solidFill>
                <a:latin typeface="Arial"/>
              </a:rPr>
              <a:t>Based on our review of 134 papers and 20 public SIH26169 repositories, we did not identify a coarse-PAT system that combines a recursively updated belief map, FOV selection from measured noise, and belief-seeded re-acquisition.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8595360" y="4846320"/>
            <a:ext cx="3246120" cy="1417320"/>
          </a:xfrm>
          <a:prstGeom prst="roundRect">
            <a:avLst>
              <a:gd name="adj" fmla="val 8000"/>
            </a:avLst>
          </a:prstGeom>
          <a:solidFill>
            <a:srgbClr val="E6F3E7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8686800" y="4882896"/>
            <a:ext cx="3063240" cy="1344168"/>
          </a:xfrm>
          <a:prstGeom prst="rect">
            <a:avLst/>
          </a:prstGeom>
          <a:noFill/>
        </p:spPr>
        <p:txBody>
          <a:bodyPr wrap="square" lIns="27432" rIns="27432" tIns="16459" bIns="16459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100" b="1" i="0" u="none">
                <a:solidFill>
                  <a:srgbClr val="2E7D32"/>
                </a:solidFill>
                <a:latin typeface="Arial"/>
              </a:rPr>
              <a:t>PROJECT RESOURCES</a:t>
            </a:r>
          </a:p>
          <a:p>
            <a:pPr algn="l" marL="109728" indent="-109728">
              <a:spcAft>
                <a:spcPts val="200"/>
              </a:spcAft>
              <a:buFont typeface="Arial"/>
              <a:buChar char="•"/>
            </a:pPr>
            <a:r>
              <a:rPr sz="950" b="1" i="0" u="none">
                <a:solidFill>
                  <a:srgbClr val="1A1A1A"/>
                </a:solidFill>
                <a:latin typeface="Arial"/>
              </a:rPr>
              <a:t>Prototype: </a:t>
            </a:r>
            <a:r>
              <a:rPr sz="950" b="0" i="0" u="none">
                <a:solidFill>
                  <a:srgbClr val="1A1A1A"/>
                </a:solidFill>
                <a:latin typeface="Arial"/>
              </a:rPr>
              <a:t>run_gui.bat (offline, laptop)</a:t>
            </a:r>
          </a:p>
          <a:p>
            <a:pPr algn="l" marL="109728" indent="-109728">
              <a:spcAft>
                <a:spcPts val="200"/>
              </a:spcAft>
              <a:buFont typeface="Arial"/>
              <a:buChar char="•"/>
            </a:pPr>
            <a:r>
              <a:rPr sz="950" b="1" i="0" u="none">
                <a:solidFill>
                  <a:srgbClr val="1A1A1A"/>
                </a:solidFill>
                <a:latin typeface="Arial"/>
              </a:rPr>
              <a:t>Benchmark: </a:t>
            </a:r>
            <a:r>
              <a:rPr sz="950" b="0" i="0" u="none">
                <a:solidFill>
                  <a:srgbClr val="1A1A1A"/>
                </a:solidFill>
                <a:latin typeface="Arial"/>
              </a:rPr>
              <a:t>results/bench/benchmark_report.html</a:t>
            </a:r>
          </a:p>
          <a:p>
            <a:pPr algn="l" marL="109728" indent="-109728">
              <a:spcAft>
                <a:spcPts val="200"/>
              </a:spcAft>
              <a:buFont typeface="Arial"/>
              <a:buChar char="•"/>
            </a:pPr>
            <a:r>
              <a:rPr sz="950" b="1" i="0" u="none">
                <a:solidFill>
                  <a:srgbClr val="1A1A1A"/>
                </a:solidFill>
                <a:latin typeface="Arial"/>
              </a:rPr>
              <a:t>Source code: </a:t>
            </a:r>
            <a:r>
              <a:rPr sz="950" b="0" i="0" u="none">
                <a:solidFill>
                  <a:srgbClr val="B71C1C"/>
                </a:solidFill>
                <a:latin typeface="Arial"/>
              </a:rPr>
              <a:t>GitHub link — add before upload</a:t>
            </a:r>
          </a:p>
          <a:p>
            <a:pPr algn="l" marL="109728" indent="-109728">
              <a:spcAft>
                <a:spcPts val="200"/>
              </a:spcAft>
              <a:buFont typeface="Arial"/>
              <a:buChar char="•"/>
            </a:pPr>
            <a:r>
              <a:rPr sz="950" b="1" i="0" u="none">
                <a:solidFill>
                  <a:srgbClr val="1A1A1A"/>
                </a:solidFill>
                <a:latin typeface="Arial"/>
              </a:rPr>
              <a:t>Demo video: </a:t>
            </a:r>
            <a:r>
              <a:rPr sz="950" b="0" i="0" u="none">
                <a:solidFill>
                  <a:srgbClr val="B71C1C"/>
                </a:solidFill>
                <a:latin typeface="Arial"/>
              </a:rPr>
              <a:t>link — add before upload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